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e12229ecdc420c" /><Relationship Type="http://schemas.openxmlformats.org/officeDocument/2006/relationships/extended-properties" Target="/docProps/app.xml" Id="Rf7b6eb96c5494fa9" /><Relationship Type="http://schemas.openxmlformats.org/officeDocument/2006/relationships/officeDocument" Target="/ppt/presentation.xml" Id="R2a90e51ae1074d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421812d838403f"/>
  </p:sldMasterIdLst>
  <p:notesMasterIdLst>
    <p:notesMasterId xmlns:r="http://schemas.openxmlformats.org/officeDocument/2006/relationships" r:id="Rf0fdc813cbbb4569"/>
  </p:notesMasterIdLst>
  <p:sldIdLst>
    <p:sldId xmlns:r="http://schemas.openxmlformats.org/officeDocument/2006/relationships" id="256" r:id="R3523d99622e34d12"/>
    <p:sldId xmlns:r="http://schemas.openxmlformats.org/officeDocument/2006/relationships" id="257" r:id="Rbf970fc6a5074b2d"/>
    <p:sldId xmlns:r="http://schemas.openxmlformats.org/officeDocument/2006/relationships" id="258" r:id="R0315a23c17424ed4"/>
    <p:sldId xmlns:r="http://schemas.openxmlformats.org/officeDocument/2006/relationships" id="259" r:id="R6bdb66766d3f4d4a"/>
    <p:sldId xmlns:r="http://schemas.openxmlformats.org/officeDocument/2006/relationships" id="260" r:id="Rce272f54f9c849c3"/>
    <p:sldId xmlns:r="http://schemas.openxmlformats.org/officeDocument/2006/relationships" id="261" r:id="R0f21d1c08f1d4794"/>
    <p:sldId xmlns:r="http://schemas.openxmlformats.org/officeDocument/2006/relationships" id="262" r:id="R39ea8fd2d58048df"/>
    <p:sldId xmlns:r="http://schemas.openxmlformats.org/officeDocument/2006/relationships" id="263" r:id="R2aa6a9086f1e43c0"/>
    <p:sldId xmlns:r="http://schemas.openxmlformats.org/officeDocument/2006/relationships" id="264" r:id="R3ebd152c414b433f"/>
    <p:sldId xmlns:r="http://schemas.openxmlformats.org/officeDocument/2006/relationships" id="265" r:id="Rc41ee21fc39446c6"/>
    <p:sldId xmlns:r="http://schemas.openxmlformats.org/officeDocument/2006/relationships" id="266" r:id="R3e03ccafa1064e23"/>
    <p:sldId xmlns:r="http://schemas.openxmlformats.org/officeDocument/2006/relationships" id="267" r:id="Rfc60d8c68f3e4609"/>
    <p:sldId xmlns:r="http://schemas.openxmlformats.org/officeDocument/2006/relationships" id="268" r:id="Rc3ad8e1d86e24fbc"/>
    <p:sldId xmlns:r="http://schemas.openxmlformats.org/officeDocument/2006/relationships" id="269" r:id="R7d21c9046f3441e2"/>
    <p:sldId xmlns:r="http://schemas.openxmlformats.org/officeDocument/2006/relationships" id="270" r:id="R7b77079f3057402c"/>
    <p:sldId xmlns:r="http://schemas.openxmlformats.org/officeDocument/2006/relationships" id="271" r:id="R7230b2c91de84f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3e49424e1492e" /><Relationship Type="http://schemas.openxmlformats.org/officeDocument/2006/relationships/slideMaster" Target="/ppt/slideMasters/slideMaster1.xml" Id="R44421812d838403f" /><Relationship Type="http://schemas.openxmlformats.org/officeDocument/2006/relationships/notesMaster" Target="/ppt/notesMasters/notesMaster1.xml" Id="Rf0fdc813cbbb4569" /><Relationship Type="http://schemas.openxmlformats.org/officeDocument/2006/relationships/presProps" Target="/ppt/presProps.xml" Id="R748ba7ce04df479a" /><Relationship Type="http://schemas.openxmlformats.org/officeDocument/2006/relationships/tableStyles" Target="/ppt/tableStyles.xml" Id="Rabc10fb54cbc4b45" /><Relationship Type="http://schemas.openxmlformats.org/officeDocument/2006/relationships/slide" Target="/ppt/slides/slide1.xml" Id="R3523d99622e34d12" /><Relationship Type="http://schemas.openxmlformats.org/officeDocument/2006/relationships/slide" Target="/ppt/slides/slide2.xml" Id="Rbf970fc6a5074b2d" /><Relationship Type="http://schemas.openxmlformats.org/officeDocument/2006/relationships/slide" Target="/ppt/slides/slide3.xml" Id="R0315a23c17424ed4" /><Relationship Type="http://schemas.openxmlformats.org/officeDocument/2006/relationships/slide" Target="/ppt/slides/slide4.xml" Id="R6bdb66766d3f4d4a" /><Relationship Type="http://schemas.openxmlformats.org/officeDocument/2006/relationships/slide" Target="/ppt/slides/slide5.xml" Id="Rce272f54f9c849c3" /><Relationship Type="http://schemas.openxmlformats.org/officeDocument/2006/relationships/slide" Target="/ppt/slides/slide6.xml" Id="R0f21d1c08f1d4794" /><Relationship Type="http://schemas.openxmlformats.org/officeDocument/2006/relationships/slide" Target="/ppt/slides/slide7.xml" Id="R39ea8fd2d58048df" /><Relationship Type="http://schemas.openxmlformats.org/officeDocument/2006/relationships/slide" Target="/ppt/slides/slide8.xml" Id="R2aa6a9086f1e43c0" /><Relationship Type="http://schemas.openxmlformats.org/officeDocument/2006/relationships/slide" Target="/ppt/slides/slide9.xml" Id="R3ebd152c414b433f" /><Relationship Type="http://schemas.openxmlformats.org/officeDocument/2006/relationships/slide" Target="/ppt/slides/slide10.xml" Id="Rc41ee21fc39446c6" /><Relationship Type="http://schemas.openxmlformats.org/officeDocument/2006/relationships/slide" Target="/ppt/slides/slide11.xml" Id="R3e03ccafa1064e23" /><Relationship Type="http://schemas.openxmlformats.org/officeDocument/2006/relationships/slide" Target="/ppt/slides/slide12.xml" Id="Rfc60d8c68f3e4609" /><Relationship Type="http://schemas.openxmlformats.org/officeDocument/2006/relationships/slide" Target="/ppt/slides/slide13.xml" Id="Rc3ad8e1d86e24fbc" /><Relationship Type="http://schemas.openxmlformats.org/officeDocument/2006/relationships/slide" Target="/ppt/slides/slide14.xml" Id="R7d21c9046f3441e2" /><Relationship Type="http://schemas.openxmlformats.org/officeDocument/2006/relationships/slide" Target="/ppt/slides/slide15.xml" Id="R7b77079f3057402c" /><Relationship Type="http://schemas.openxmlformats.org/officeDocument/2006/relationships/slide" Target="/ppt/slides/slide16.xml" Id="R7230b2c91de84f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efd32f0fc48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bbc2556f584eee" /><Relationship Type="http://schemas.openxmlformats.org/officeDocument/2006/relationships/notesMaster" Target="/ppt/notesMasters/notesMaster1.xml" Id="Rdbc26bfd001541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55510763c84332" /><Relationship Type="http://schemas.openxmlformats.org/officeDocument/2006/relationships/notesMaster" Target="/ppt/notesMasters/notesMaster1.xml" Id="Re20823b298464d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550d6456c94516" /><Relationship Type="http://schemas.openxmlformats.org/officeDocument/2006/relationships/notesMaster" Target="/ppt/notesMasters/notesMaster1.xml" Id="Rbbef64ba037b4a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06ea3e3ac44f1f" /><Relationship Type="http://schemas.openxmlformats.org/officeDocument/2006/relationships/notesMaster" Target="/ppt/notesMasters/notesMaster1.xml" Id="Rb1b0404b46d541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1c14729bbb4bd0" /><Relationship Type="http://schemas.openxmlformats.org/officeDocument/2006/relationships/notesMaster" Target="/ppt/notesMasters/notesMaster1.xml" Id="R4240f3f7c276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335f1bde8741a0" /><Relationship Type="http://schemas.openxmlformats.org/officeDocument/2006/relationships/notesMaster" Target="/ppt/notesMasters/notesMaster1.xml" Id="Ra2d4271bbed245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477b3cbf8f4818" /><Relationship Type="http://schemas.openxmlformats.org/officeDocument/2006/relationships/notesMaster" Target="/ppt/notesMasters/notesMaster1.xml" Id="R6b3786e06cf049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21f7f7c92145e7" /><Relationship Type="http://schemas.openxmlformats.org/officeDocument/2006/relationships/notesMaster" Target="/ppt/notesMasters/notesMaster1.xml" Id="Rfb168d8f92f043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7df6a0e85548ef" /><Relationship Type="http://schemas.openxmlformats.org/officeDocument/2006/relationships/notesMaster" Target="/ppt/notesMasters/notesMaster1.xml" Id="R87df60fd137a45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12b85dacc143e2" /><Relationship Type="http://schemas.openxmlformats.org/officeDocument/2006/relationships/notesMaster" Target="/ppt/notesMasters/notesMaster1.xml" Id="R5bde15ef926542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604a294e24d16" /><Relationship Type="http://schemas.openxmlformats.org/officeDocument/2006/relationships/notesMaster" Target="/ppt/notesMasters/notesMaster1.xml" Id="Ra29778705e6d40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dad7da32264446" /><Relationship Type="http://schemas.openxmlformats.org/officeDocument/2006/relationships/notesMaster" Target="/ppt/notesMasters/notesMaster1.xml" Id="R329802a6d02841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e56126029f4765" /><Relationship Type="http://schemas.openxmlformats.org/officeDocument/2006/relationships/notesMaster" Target="/ppt/notesMasters/notesMaster1.xml" Id="Rdc840300c49c42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006274e3634dfb" /><Relationship Type="http://schemas.openxmlformats.org/officeDocument/2006/relationships/notesMaster" Target="/ppt/notesMasters/notesMaster1.xml" Id="R6b895a95df6147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cd92f242b14502" /><Relationship Type="http://schemas.openxmlformats.org/officeDocument/2006/relationships/notesMaster" Target="/ppt/notesMasters/notesMaster1.xml" Id="Rc6c68f47adea44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dfdfe3ddd44fa1" /><Relationship Type="http://schemas.openxmlformats.org/officeDocument/2006/relationships/notesMaster" Target="/ppt/notesMasters/notesMaster1.xml" Id="Rc6b8c8a733a944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aaf9315fa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f62da71e0b4c5e" /><Relationship Type="http://schemas.openxmlformats.org/officeDocument/2006/relationships/slideLayout" Target="/ppt/slideLayouts/slideLayout1.xml" Id="R1fea5241c7aa4b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ea5241c7aa4b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5f862c4524bde" /><Relationship Type="http://schemas.openxmlformats.org/officeDocument/2006/relationships/notesSlide" Target="/ppt/notesSlides/notesSlide1.xml" Id="R75006efb99ae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34cd21b964bac" /><Relationship Type="http://schemas.openxmlformats.org/officeDocument/2006/relationships/notesSlide" Target="/ppt/notesSlides/notesSlide2.xml" Id="Rb61c86299a7746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c60da10c94a33" /><Relationship Type="http://schemas.openxmlformats.org/officeDocument/2006/relationships/notesSlide" Target="/ppt/notesSlides/notesSlide3.xml" Id="Rf1162e2ab6e940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61a00574242ac" /><Relationship Type="http://schemas.openxmlformats.org/officeDocument/2006/relationships/notesSlide" Target="/ppt/notesSlides/notesSlide4.xml" Id="R2e940e8fbd9c45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ff1a412954343" /><Relationship Type="http://schemas.openxmlformats.org/officeDocument/2006/relationships/notesSlide" Target="/ppt/notesSlides/notesSlide5.xml" Id="R9a85ec4a9be3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29650dd464e35" /><Relationship Type="http://schemas.openxmlformats.org/officeDocument/2006/relationships/notesSlide" Target="/ppt/notesSlides/notesSlide6.xml" Id="R8158d4c024b44f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880ed13c64f3f" /><Relationship Type="http://schemas.openxmlformats.org/officeDocument/2006/relationships/image" Target="/ppt/media/image.png" Id="R44b849596e6944e3" /><Relationship Type="http://schemas.openxmlformats.org/officeDocument/2006/relationships/notesSlide" Target="/ppt/notesSlides/notesSlide7.xml" Id="Rdeaf7eb391b947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819ed527b4a85" /><Relationship Type="http://schemas.openxmlformats.org/officeDocument/2006/relationships/notesSlide" Target="/ppt/notesSlides/notesSlide8.xml" Id="R538aacd475e440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9ab5de4cd4a8b" /><Relationship Type="http://schemas.openxmlformats.org/officeDocument/2006/relationships/notesSlide" Target="/ppt/notesSlides/notesSlide9.xml" Id="Ra01647cdd4534f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509b655f147c0" /><Relationship Type="http://schemas.openxmlformats.org/officeDocument/2006/relationships/image" Target="/ppt/media/image2.png" Id="R26db1cceb5c34db3" /><Relationship Type="http://schemas.openxmlformats.org/officeDocument/2006/relationships/image" Target="/ppt/media/image3.png" Id="Rbab1c99f0aeb493d" /><Relationship Type="http://schemas.openxmlformats.org/officeDocument/2006/relationships/image" Target="/ppt/media/image4.png" Id="R6d55838819de4ba4" /><Relationship Type="http://schemas.openxmlformats.org/officeDocument/2006/relationships/notesSlide" Target="/ppt/notesSlides/notesSlide10.xml" Id="R0e6f169929984d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dcae220174663" /><Relationship Type="http://schemas.openxmlformats.org/officeDocument/2006/relationships/image" Target="/ppt/media/image5.png" Id="R6ed856b6f2df427f" /><Relationship Type="http://schemas.openxmlformats.org/officeDocument/2006/relationships/image" Target="/ppt/media/image6.png" Id="R55462867e76444a2" /><Relationship Type="http://schemas.openxmlformats.org/officeDocument/2006/relationships/image" Target="/ppt/media/image7.png" Id="R7d9b5477cca84ad4" /><Relationship Type="http://schemas.openxmlformats.org/officeDocument/2006/relationships/notesSlide" Target="/ppt/notesSlides/notesSlide11.xml" Id="Rd3bb03a98faa4b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2580c6fed43eb" /><Relationship Type="http://schemas.openxmlformats.org/officeDocument/2006/relationships/image" Target="/ppt/media/image8.png" Id="R69766017c16a4935" /><Relationship Type="http://schemas.openxmlformats.org/officeDocument/2006/relationships/image" Target="/ppt/media/image9.png" Id="R0f12dd68fbce444a" /><Relationship Type="http://schemas.openxmlformats.org/officeDocument/2006/relationships/notesSlide" Target="/ppt/notesSlides/notesSlide12.xml" Id="R7be14a11eb0742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6949543934fff" /><Relationship Type="http://schemas.openxmlformats.org/officeDocument/2006/relationships/notesSlide" Target="/ppt/notesSlides/notesSlide13.xml" Id="R906fc85893d641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3dfed60604618" /><Relationship Type="http://schemas.openxmlformats.org/officeDocument/2006/relationships/notesSlide" Target="/ppt/notesSlides/notesSlide14.xml" Id="Rcfc8bb65aecf46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25f564d2c4385" /><Relationship Type="http://schemas.openxmlformats.org/officeDocument/2006/relationships/notesSlide" Target="/ppt/notesSlides/notesSlide15.xml" Id="Rde92d674569b4c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6496077574590" /><Relationship Type="http://schemas.openxmlformats.org/officeDocument/2006/relationships/notesSlide" Target="/ppt/notesSlides/notesSlide16.xml" Id="R096428fd916a4e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94FADDD-33BD-411A-A3C0-89067697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AEAA69B-9337-4D55-B32C-CA36E655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552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800AE20-93F9-4AC0-A57A-4291A6C2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课程实训结课展示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87C70DC-3A30-4D9C-91CF-12F0AA70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85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智慧停车管理系统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V3.0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3282624-2CFE-495F-97D6-5CC6E534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BEAFE"/>
                </a:solidFill>
              </a:defRPr>
            </a:pPr>
            <a:r>
              <a:rPr sz="1650" b="0">
                <a:solidFill>
                  <a:srgbClr val="DBEAFE"/>
                </a:solidFill>
              </a:rPr>
              <a:t>城市停车一张图  本地评分推荐  预约订单闭环  运营管理后台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43C68F4C-D82D-4BC6-99D6-968873AC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2857500" cy="2952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6ADFBAF-6D67-4F31-8CE4-689BF2BD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B6D4"/>
                </a:solidFill>
              </a:defRPr>
            </a:pPr>
            <a:r>
              <a:rPr sz="2250" b="1">
                <a:solidFill>
                  <a:srgbClr val="06B6D4"/>
                </a:solidFill>
              </a:rPr>
              <a:t>SYSTEM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1155F90-06A3-4240-AAF0-1C70E72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266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结课展示版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7719C16F-6432-401D-A043-DD7D91AD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0764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A68AD85-084E-46E8-B99C-4EE6DE10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BD5E1"/>
                </a:solidFill>
              </a:defRPr>
            </a:pPr>
            <a:r>
              <a:rPr sz="1050" b="1">
                <a:solidFill>
                  <a:srgbClr val="CBD5E1"/>
                </a:solidFill>
              </a:rPr>
              <a:t>SmartParkCloudLink-hdjd</a:t>
            </a:r>
          </a:p>
        </p:txBody>
      </p:sp>
    </p:spTree>
    <p:extLst>
      <p:ext uri="{BB962C8B-B14F-4D97-AF65-F5344CB8AC3E}">
        <p14:creationId xmlns:p14="http://schemas.microsoft.com/office/powerpoint/2010/main" val="2023628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980E8AE-E056-46BE-9155-0F255891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2A27F89-3882-4BAD-A513-47470F7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C0259F5-F727-4D6D-9E90-92749D68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743B13-2FF2-43A1-AE2E-1DFAAB7B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30C9C7F-E416-4057-B4A0-459D3667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展示主线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197C4B9-A3F5-40CB-8879-D8C9C38C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这次展示围绕一条停车业务闭环展开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F3D7412-DC4A-41D8-A7D1-634E5D85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从停车痛点出发，说明系统能力、核心流程、技术实现和最终交付结果。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3B2CFE-AC4B-469E-B52E-FE026270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FBF60CE-D3D4-4EC0-9F5A-079C27E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展示主线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0CBBFAC-8F2C-48CE-8820-C9CEDBE3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E20C6458-AD66-4C5E-97F9-8D10E2DF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AD3BF10-2119-42E0-82BA-117E9C9E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59F509-A928-45F9-840C-DF97BEA4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01  为什么做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330B14A-B605-40A4-9E0C-A136AE51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866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停车信息不透明、车位状态不联动、运营数据分散，影响车主体验和管理效率。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7D955C60-31DA-4765-91D8-F8CBA88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646E7D5-40CF-4797-A0DB-32BC9539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15CC013-2DCC-48C8-9AB0-5B4AACD8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02  做成什么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237F790-A5C2-4774-AE72-1315382D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1866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系统覆盖地图找位、评分推荐、预约锁位、订单支付、反向寻车和后台统计。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D88C7925-A831-4CED-A4D0-3F89C9B7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8C3C794-ECD3-40AD-8825-B62354E3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C51B48-A7BE-46DA-8F6F-5C0F47B5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03  怎么跑通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537AD93-1822-48A6-91BF-B521E7CF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1866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按一条车主旅程演示登录、搜索、推荐、预约、入场、寻车、出场支付。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40506324-C8DF-40EC-B55B-348BAC5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BDCD940-C8D0-4037-99CD-897E786A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5B29E82-6AF2-4D58-96FF-80518AB2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6B6D4"/>
                </a:solidFill>
              </a:defRPr>
            </a:pPr>
            <a:r>
              <a:rPr sz="1725" b="1">
                <a:solidFill>
                  <a:srgbClr val="06B6D4"/>
                </a:solidFill>
              </a:rPr>
              <a:t>04  如何交付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4290FDD-9D41-4A36-94B3-A5D9ABA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90850"/>
            <a:ext cx="1866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用前后端代码、启动说明、接口文档和演示脚本支撑结课展示。</a:t>
            </a:r>
          </a:p>
        </p:txBody>
      </p:sp>
    </p:spTree>
    <p:extLst>
      <p:ext uri="{BB962C8B-B14F-4D97-AF65-F5344CB8AC3E}">
        <p14:creationId xmlns:p14="http://schemas.microsoft.com/office/powerpoint/2010/main" val="1875669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A3E9DE0-2B93-463A-B84A-20B26232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F7B9A88-CBF4-423E-AEFA-67DA2A0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D3C696-B30D-4DA7-AF34-73308681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703AE32-4F73-4DA1-8E1D-650197EA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48B611-9ED1-4D56-88BC-21298372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项目背景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0AF7B26-5A9A-4838-ACC7-27EC411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项目要解决的是车位信息和停车流程没有联动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2034172-5A99-4C7A-9B8C-AEB288E2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系统把车主决策、车场状态和后台运营放到同一条业务链路中。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62C8611-5F6C-44B1-94E7-910D3E6A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5AA91A5-B527-4574-9CF9-CA80D787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项目背景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A9DA0F-6D1C-48D9-9494-9B2634ED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F8CC6004-F04E-4C37-981A-73BE9C98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6CB7639-CECC-45DB-8AD5-6A6D6D88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F6CB26A-5FD5-40AF-B986-A04463AD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车主侧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2EC3FDE-7647-406D-9E2E-1C5401A4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7717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到达目的地前难判断哪里有空位；停车后订单、支付、寻车分散在不同流程里。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BD908B3-520E-4F2F-906D-5FE9DEA6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213D70E-9872-40A5-8843-EB555AE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F2986BF-43F8-4F62-800C-86ACBEE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车场侧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77990F3-9D68-4FB7-84D3-41B81F78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38450"/>
            <a:ext cx="27717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车位库存、预约状态和入出场事件需要同步，否则容易出现超约和状态错乱。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FA3BCC5E-865E-4177-B5CD-687BF9D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1C67861-F245-47E7-8AA5-C92801A3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589D342-F862-4EE2-AE74-7ADDAE0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管理侧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876D435-B2A9-48BE-9297-62AB893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27717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运营人员需要看到车场、车位、订单和收入统计，支持日常管理和展示汇报。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2340F91-B37B-4E3B-92DF-26B6D62D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项目回应：先打通“找位、预约、入场、寻车、支付、后台统计”的核心闭环。</a:t>
            </a:r>
          </a:p>
        </p:txBody>
      </p:sp>
    </p:spTree>
    <p:extLst>
      <p:ext uri="{BB962C8B-B14F-4D97-AF65-F5344CB8AC3E}">
        <p14:creationId xmlns:p14="http://schemas.microsoft.com/office/powerpoint/2010/main" val="744013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976E94-1058-4A68-82E9-154C2CF4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30E61E-2DEE-4294-B703-B3975AEF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A2DFFDB-A69A-46B9-B1E0-420D11E1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D21E759-4EC2-48B0-B1BA-03CB71F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D30BA8D-4730-46A6-89B0-9A371F1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交付成果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6ADB065-DBDE-433B-82FE-B9A83C8B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V3.0 交付了一套可运行的智慧停车演示系统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E3326B3-B761-4778-8712-1FA984C5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结课展示重点看系统是否能启动、能讲清、能跑通、能提交。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8949A92-677E-4568-B809-4F15E5F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4B32BF8-E1DD-4201-BFF7-499645BB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交付成果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7D3353B-7F22-4FAC-A1BB-63DC4592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60F2C9C-3983-476A-92C9-239B1D1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CDC7682-CCB5-4E49-83F5-3F52A28D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30E420F-0E07-4162-A629-393F64CC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核心业务模块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B24EF1FF-EF1B-4328-9EED-37B19C00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8CCD8DD-0AC7-4EE1-BE1D-F4BDE38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2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5E2A939-E616-4DB4-9542-F1268723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用户角色入口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5B6A83BE-8DBE-4EEA-8820-6B7FDD91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322ADD5-F533-4FED-B527-E9FD6F15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6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397016B-12BA-4FDD-9035-0526148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后端路由分组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7B87F1E5-0604-4640-928B-AA5016A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669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5622EA7-9B4D-4560-B799-B864D2C1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6B6D4"/>
                </a:solidFill>
              </a:defRPr>
            </a:pPr>
            <a:r>
              <a:rPr sz="2550" b="1">
                <a:solidFill>
                  <a:srgbClr val="06B6D4"/>
                </a:solidFill>
              </a:rPr>
              <a:t>1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9BB6205-FDBB-404B-945D-BF2BA075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完整演示主线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28236293-CCFB-4342-B818-DA06B5AA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DEDA370-5677-4EA2-A708-EBBA8EF4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4AC4717-6F43-43D3-8AF2-0519277A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可运行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E62D3DF-10DF-469E-8865-65FE238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053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Vue 3 + FastAPI + SQLite，可按 README 启动前后端。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44D42F39-B9AE-4028-9466-20C4FA62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69C457B-B7B3-4D1B-9B5E-999054B6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7A062D8-7DFC-40A4-80D5-A8FEE5A5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862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可演示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FD2B02C-D666-4960-979D-F06AB1BF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053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车主端和管理端覆盖核心业务闭环。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37A532E6-14EA-491F-8BA5-6B852E99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D8C9079-0DDC-4A95-BEBC-7444FDB3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62B3CE3-9A78-47DE-81C6-2E0939D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可提交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8808CAC-6F23-4262-93AD-21C9F38A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代码、文档、演示文件和启动说明形成结课材料。</a:t>
            </a:r>
          </a:p>
        </p:txBody>
      </p:sp>
    </p:spTree>
    <p:extLst>
      <p:ext uri="{BB962C8B-B14F-4D97-AF65-F5344CB8AC3E}">
        <p14:creationId xmlns:p14="http://schemas.microsoft.com/office/powerpoint/2010/main" val="1371338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F335E0-8BF7-4F0A-B680-5B08DBA5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BAADDBE-E83E-4DDB-BE20-53F6B5A1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B74D630-AE14-48AD-8B93-D4D4D85C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E825F5B-A972-4EF6-BE36-3C1085AE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79D3A78-BBDE-44C7-BB06-966188D7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角色与入口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99E7372-A3DC-430E-B291-23450AB2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系统把普通用户和管理员分成两条清晰入口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78A2E4A-03E7-42EF-8ACA-1A8CC90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结课展示时先用普通用户跑停车流程，再用管理员后台收束数据。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34C738C-C6D9-4820-9D09-91B7C17B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B881EB1-1BA8-4A1D-9992-3306CFAC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角色与入口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0D3E819-AA32-4DB4-BB36-65E58A06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D40EA979-A55D-434E-B77F-23691183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762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E86448D-C651-4F0C-9BA3-D815949A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6DD238-52FC-42DF-B9EB-3914C19B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普通用户 User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71722D6-49BF-45F3-BD92-27C91EE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43434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演示账号：user / user123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进入首页地图，完成目的地搜索、推荐查看、预约车位、订单支付、反向寻车和个人信息管理。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DB87DD7C-8E11-4B74-B609-ADCC447A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762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0A00A8E-7BA6-41A1-822F-DD2E41FE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D074941-BB1B-4F55-B9B3-C92C3BCF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管理员 Admin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E401287-F79C-49DE-B79B-D8CBB47D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43434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演示账号：admin / admin123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进入后台看板，查看车场概览、车位状态、订单列表和运营统计，验证前台行为沉淀为后台数据。</a:t>
            </a:r>
          </a:p>
        </p:txBody>
      </p:sp>
    </p:spTree>
    <p:extLst>
      <p:ext uri="{BB962C8B-B14F-4D97-AF65-F5344CB8AC3E}">
        <p14:creationId xmlns:p14="http://schemas.microsoft.com/office/powerpoint/2010/main" val="528803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44435CE-2D81-4B0C-9E72-447350B1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FEB9638-8E70-478D-9138-11CEC31E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552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23CDDE4-5423-4D56-A64A-5BA658FA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PART 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CB2FD37-24D2-4D08-9000-5FF3E9B4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产品能力全景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770959E-3D64-4F65-87A3-D6391DCF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先看系统对车主和管理员提供了哪些可演示能力，再串成一条完整停车旅程。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EF7B93B-4DDA-47AB-9C3A-938208E4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0061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A02179A-F5E6-4B1B-A674-D0455020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D8019E-8A7C-4A4F-B9DB-0F947221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4B32843-CA13-48DA-B262-743D84DE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4C5F8D-1E4A-46DE-8D07-63064668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524033A-6F1D-44AF-AE7A-18F1FE88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首页地图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E1654D4-83D3-4C4C-8805-34F47520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车主端从目的地搜索开始完成停车决策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8D5171-E4D4-4C89-9493-18BC6D6C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首页地图把目标点、周边停车地、系统车场和预约入口放在同一屏。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0B46BB7-9B8A-461C-9EF4-07657B2F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8537B5-E691-4970-AB5B-EEDCCE9A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首页地图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827B79-04CD-42A4-8AFE-C256341C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DDD603-4C1B-411B-A3D0-6585B56D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F99D970-B255-463F-A7CC-8FE8B77E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输入目的地后调用高德地图能力，定位目标并检索周边停车场。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ABAF54A-9EF9-4293-AE92-DA47F4E7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811CF87-6EB2-4B4D-9261-CB9C7161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系统内车场展示实时空位、价格和距离，可进入详情或直接预约。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E3C5660-C61F-4B15-9748-FE9FE0B4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717D9E5-89C2-463D-BCC9-52B2FCCD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第三方停车 POI 提供导航入口，系统内车场支撑真实业务状态。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3B5E0C6-B4F8-45A4-B537-F4BAF65B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52650"/>
            <a:ext cx="3219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pic>
        <p:nvPicPr>
          <p:cNvPr id="41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849596e6944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1943100"/>
            <a:ext cx="4895850" cy="3181350"/>
          </a:xfrm>
          <a:prstGeom xmlns:a="http://schemas.openxmlformats.org/drawingml/2006/main" prst="roundRect">
            <a:avLst>
              <a:gd name="adj" fmla="val 239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1D93B-1CBA-4F17-944D-92CECC2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4895850" cy="3181350"/>
          </a:xfrm>
          <a:prstGeom xmlns:a="http://schemas.openxmlformats.org/drawingml/2006/main" prst="roundRect">
            <a:avLst>
              <a:gd name="adj" fmla="val 239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24969-48D8-46A2-9952-9DBE5689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00650"/>
            <a:ext cx="2381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首页地图与推荐列表</a:t>
            </a:r>
          </a:p>
        </p:txBody>
      </p:sp>
    </p:spTree>
    <p:extLst>
      <p:ext uri="{BB962C8B-B14F-4D97-AF65-F5344CB8AC3E}">
        <p14:creationId xmlns:p14="http://schemas.microsoft.com/office/powerpoint/2010/main" val="36633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24E906D-47E3-4FCF-9B3F-A2C46D16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C86B4D-53B8-4B7A-BAA6-C52A141A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517FEC-1723-4A62-B4FD-C90B740D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7E4527-FA9D-4FF3-915B-DC499403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1E288DC-E6BA-4C58-8CD3-7D267D10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评分推荐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4003CAF-5AE4-4831-8640-099C5922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本地评分推荐把选择理由讲清楚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5AA8EA-A2CE-43ED-A4FC-1EE70F61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推荐不是黑盒，系统按距离、价格和空位计算综合得分，方便结课展示说明。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6680AF8-115A-4BE9-978D-BE9335B7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7B42F4D-2AA7-4A7E-83C0-08E5A7D2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评分推荐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FE6CD5-B36D-4B81-96F8-CA3B1D7F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CB718E2-8C78-4C34-8C1E-7E6CA07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距离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04AE85-F03D-4A68-94F3-0AC425A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71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越近得分越高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8ACE661-2D16-4442-A3AA-810BD72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39052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8670486F-933D-4096-B89F-EC71645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6383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0BE645A-ABBA-4A51-950A-514691B0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336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42%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3DCA3BE-E33C-4F78-9785-BCC6C7A0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价格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4CE5434-550E-4671-B105-0FD7FAA9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67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越低得分越高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D3F0275D-9F63-40E2-B0E8-83DB3E93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95650"/>
            <a:ext cx="39052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E0856EE-1BC1-4891-800F-A78DB0E0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95650"/>
            <a:ext cx="1095375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A31E21E-B575-4519-80DD-E878698A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289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A34A"/>
                </a:solidFill>
              </a:defRPr>
            </a:pPr>
            <a:r>
              <a:rPr sz="1425" b="1">
                <a:solidFill>
                  <a:srgbClr val="16A34A"/>
                </a:solidFill>
              </a:rPr>
              <a:t>28%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566775B-9ECC-47E6-9DA0-AC7F1263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空位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7A8A7D7-EB14-4BD2-AF3A-05C5041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62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剩余越多得分越高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AD0DE638-58A0-4ED6-A046-CC7D2D8E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39052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695EBA48-D78F-46BD-90DD-29CDBEF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1171575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F3F70DA-15CD-46ED-9F74-42E114E9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24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30%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A2047678-720F-4628-B82F-960AD60F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9524365" cy="86296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2480A24-6E8D-4523-96AD-03B5A59B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952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7E72475-A434-4413-8E7D-54BA8EC0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10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6B6D4"/>
                </a:solidFill>
              </a:defRPr>
            </a:pPr>
            <a:r>
              <a:rPr sz="1725" b="1">
                <a:solidFill>
                  <a:srgbClr val="06B6D4"/>
                </a:solidFill>
              </a:rPr>
              <a:t>推荐公式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75F5DFF-6452-421B-960F-45DD9D91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9105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综合评分 = 距离得分 × 42% + 价格得分 × 28% + 空位得分 × 30%。目的地或车场信息变化后，推荐列表会重新排序。</a:t>
            </a:r>
          </a:p>
        </p:txBody>
      </p:sp>
    </p:spTree>
    <p:extLst>
      <p:ext uri="{BB962C8B-B14F-4D97-AF65-F5344CB8AC3E}">
        <p14:creationId xmlns:p14="http://schemas.microsoft.com/office/powerpoint/2010/main" val="1581530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F2619A0-2945-4A18-AD9C-05BE24B5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E1757D-B338-401E-BBF4-61E28CDF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6E6F943-EFA8-4974-95B2-E2EC14D5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BF5EB5B-4781-4EEB-A24E-3AC34AAF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0C37DF6-0B6A-46E8-8884-7DDA9B6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预约状态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801B6AB-0440-4BA2-9DD9-5C7F6F2A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预约与订单状态把车位库存联动起来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72741C7-AD2D-4351-B4FE-5B9ECF81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预约不只是写记录，还会影响车位状态，并在到场后转为停车订单。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5624AA5-B1C6-472F-91C0-6ED0256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19B9D58-41FC-4586-90F3-417B4A61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预约状态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58BFFFB-E744-4E75-8D48-B834B551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E1E366ED-88E7-4F4B-9A6D-E4AA2631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C5C4E36-D779-4340-8F13-7AF453DE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可用车位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42BA685-46B3-41E7-85E1-8B752A1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free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CC4227-C4AE-4DB3-8485-8A123A29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EAC9384B-C61F-479B-958E-117F836D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0DC1141-A2BE-4F8E-9CAE-AEDE92FF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预约锁位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0829A3-D54B-4014-BF33-0D982A4A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created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BE22F56-E4B3-4244-9225-34C3533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81F51ED-7EDE-4978-94E1-D8E94045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050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775B64E-7F24-48B5-9C5E-4BFF7C75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停车中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994464E-AA80-49C1-9C2D-A3666AFA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parking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39C3229-2A4E-4C54-BB63-E54EE3F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5BD22E44-66F2-4296-92E8-6B31E51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050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ACDEAD6-1F48-4859-B129-A4C05F8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6B6D4"/>
                </a:solidFill>
              </a:defRPr>
            </a:pPr>
            <a:r>
              <a:rPr sz="1575" b="1">
                <a:solidFill>
                  <a:srgbClr val="06B6D4"/>
                </a:solidFill>
              </a:rPr>
              <a:t>待支付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D963490-4B93-4836-9144-58558F2C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pending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7B0D5F2-F423-40C3-81A5-D4EE1061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0C048F32-C711-4B55-AE32-C09169F8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050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508F9A4-2CBA-4FEA-8CAD-06A0DA1D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已完成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F780397-1D32-46E5-86DD-FA66348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813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paid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03E0FF5B-0C78-4275-9CEB-AF440ECA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CE32E54-5659-426E-A948-21C816D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B7C2D9A-BE1F-4619-9223-BE40CAD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释放规则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A8D79A7-0FDD-4B23-9E7F-BC3EA73C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预约取消或超过有效时间后，系统释放锁定车位，避免库存长期占用。</a:t>
            </a:r>
          </a:p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9C62B439-0B5F-4589-A2B1-7D6D3E65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70AE44F-4E22-4969-9D1D-633BCA0B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0BB5998-2C5D-4140-8882-00E29CF8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291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联动规则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8FC7410D-680A-4CBE-9179-F6E76514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确认到场或模拟入场后生成订单；支付完成后释放车位并归档记录。</a:t>
            </a:r>
          </a:p>
        </p:txBody>
      </p:sp>
    </p:spTree>
    <p:extLst>
      <p:ext uri="{BB962C8B-B14F-4D97-AF65-F5344CB8AC3E}">
        <p14:creationId xmlns:p14="http://schemas.microsoft.com/office/powerpoint/2010/main" val="1885794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2C9BBB-BBAC-4332-9630-A3434FBC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4BE7979-6925-4992-81AE-ACAEED2C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FD0B51A-09D2-48F4-8789-D884CBC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7123B23-8CB1-4733-ABEC-FA3BA14F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0D57E6-BD8A-4A41-9298-357F4D61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入出场计费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35BF554-6600-4442-9F09-21B79A7A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模拟入出场让无设备环境也能跑通闭环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BE8D36-6655-4CB6-993A-87477950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通过车牌事件模拟设备输入，演示订单生成、计费和支付状态流转。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B07C0E9-540E-448C-B355-0A52608D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13A21BA-4D08-46C1-8E9E-437ACEA5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入出场计费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3FF295-A383-4937-A01A-56E887B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5BBA9F9-D880-49E1-99DD-E27AB58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3133E66-B0EF-4800-9ACD-D768A189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49AA8D5-9B05-42EE-B63B-6EE886A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模拟入场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E4B6DF0-70F5-4540-A006-3C556780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724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选择车场和车牌，系统校验是否存在未完成订单，生成停车中订单并锁定车位。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C99DBA5D-DCFA-46E3-A397-928D18E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5359AF3-A988-4E9D-9542-D020B80D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EE7F443-E66D-4E66-9FAF-DE886595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81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模拟出场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90977C4-9518-4BA9-BB3E-C15E3F20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00350"/>
            <a:ext cx="2724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检索停车中订单，写入出场时间，按车场费率计算停车费用。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628E920-4991-429B-B6DC-D76D810A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0E58669-A707-4F4E-BE89-BFF94D3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A50EE41-A146-4AFA-B014-A367F4A4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订单支付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79B0DF3-4E35-44B6-A059-F66C8D1D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724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订单进入待支付状态，支付后释放车位，历史记录同步到用户端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9A6EC5D1-4444-4572-8A3A-1B2D00ED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pic>
        <p:nvPicPr>
          <p:cNvPr id="56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b1cceb5c3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" y="4457700"/>
            <a:ext cx="2457450" cy="16764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pic>
        <p:nvPicPr>
          <p:cNvPr id="57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1c99f0aeb49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4419600"/>
            <a:ext cx="1733550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pic>
        <p:nvPicPr>
          <p:cNvPr id="58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5838819de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4438650"/>
            <a:ext cx="2000250" cy="163830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69424-DD42-4396-98FB-577DB245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2457450" cy="16764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A1CE4D-06B0-4252-BEA8-04F0904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19600"/>
            <a:ext cx="1733550" cy="1619250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10A425-F54B-4A4D-AD60-0179B787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38650"/>
            <a:ext cx="2000250" cy="1638300"/>
          </a:xfrm>
          <a:prstGeom xmlns:a="http://schemas.openxmlformats.org/drawingml/2006/main" prst="roundRect">
            <a:avLst>
              <a:gd name="adj" fmla="val 465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234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63323E1-88ED-45E6-B184-C50E9583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6A284DD-5FA7-40D8-9422-55BBCDD2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501A1C4-3A8A-405E-B9A6-3B9B359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BF59100-0392-4203-93B6-9D1670C7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C0EFAD0-30C4-4DEF-BE7F-803C7B3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车主服务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2B8C07-279A-43DC-97E2-F1324D1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反向寻车和个人中心补齐车主体验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DC66FA0-0C6A-4A3E-BD2C-4C3EEF3F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系统能从当前停车订单返回车场、车位、区域和寻车步骤。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D0A393A-C394-45AE-940F-C034EC4B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64DDA80-E5DF-423D-A12D-6397C041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车主服务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3CDEE42-300D-4141-A70F-514668E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7F62096-7AAD-465F-A2A6-D71F50A6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AFB47CE-E89E-44E2-B21B-844A38B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反向寻车主动展示停车中车辆，也支持车牌号查询。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17DFA54-F211-4BEE-9F6E-734FD04C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3CFC99C-6642-4E0E-9B53-F4D749E5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我的订单展示停车中、待支付和已完成状态，便于演示支付闭环。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1E91C61-51DF-4416-9BFE-A1F1172C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9229E7-BB90-4893-A61E-B829A479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停车记录和个人中心保留历史数据、手机号和车牌信息。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4EBC82CA-585F-4EE5-BBB2-67F0951B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181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pic>
        <p:nvPicPr>
          <p:cNvPr id="4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856b6f2df42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1924050"/>
            <a:ext cx="3676650" cy="1771650"/>
          </a:xfrm>
          <a:prstGeom xmlns:a="http://schemas.openxmlformats.org/drawingml/2006/main" prst="roundRect">
            <a:avLst>
              <a:gd name="adj" fmla="val 4301"/>
            </a:avLst>
          </a:prstGeom>
        </p:spPr>
      </p:pic>
      <p:pic>
        <p:nvPicPr>
          <p:cNvPr id="4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62867e76444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3848100"/>
            <a:ext cx="3676650" cy="203835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pic>
        <p:nvPicPr>
          <p:cNvPr id="46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b5477cca84a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4152900"/>
            <a:ext cx="2190750" cy="163830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22810-599D-426D-AA36-3A5C245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3676650" cy="1771650"/>
          </a:xfrm>
          <a:prstGeom xmlns:a="http://schemas.openxmlformats.org/drawingml/2006/main" prst="roundRect">
            <a:avLst>
              <a:gd name="adj" fmla="val 430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0FB7E-85EC-4DD1-8800-8157B98C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3676650" cy="2038350"/>
          </a:xfrm>
          <a:prstGeom xmlns:a="http://schemas.openxmlformats.org/drawingml/2006/main" prst="roundRect">
            <a:avLst>
              <a:gd name="adj" fmla="val 373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ECD0C-DCA2-47CC-ADE3-E1C7A944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52900"/>
            <a:ext cx="2190750" cy="1638300"/>
          </a:xfrm>
          <a:prstGeom xmlns:a="http://schemas.openxmlformats.org/drawingml/2006/main" prst="roundRect">
            <a:avLst>
              <a:gd name="adj" fmla="val 465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359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94CB14B-B725-4EEB-9C66-7A7D4553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E54034-1371-4E67-8D8C-C8239089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ED23B-1DFC-486A-8795-73EAC9D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A73670-57F5-4639-A815-BB86A648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F713869-AD8A-4296-8D05-AECE78FE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管理后台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6931685-93A7-48D1-8013-35C01F11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管理后台把前台行为沉淀为运营数据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F70D30A-1608-4239-ACC1-D52BEF5B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管理员视角用于展示车场概览、车位管理、订单管理和统计分析。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209519-1FBE-4A9A-93AC-C60495D5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D9E7765-AD0B-49A1-A6A8-1C4A928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管理后台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5BE8053-7053-4D31-9085-AE862B05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7765F2BF-968C-4D99-A6D8-91185C6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E06A0D6-B478-435A-8900-277A1402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362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20CD78C-B78C-4D7D-B3A7-DCF774A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数据看板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9A73B50-2003-4AB7-B772-8FF740B4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943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展示空闲车位、今日订单、收入趋势和车场饱和度。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B253138C-CF56-47C7-9E06-00DF7345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526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B205CCE-9A3D-4AA0-969F-583232E4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52650"/>
            <a:ext cx="2362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ADBC5CC-9B59-492C-82A4-C2801D37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812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车场管理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877271B-43E7-4E19-ADA1-FF40CE99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0350"/>
            <a:ext cx="1943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查看车场列表、车位状态，并支持后台释放车位。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6BAA4B8B-AAF2-494C-A4EE-E2F2A02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D173D0D-CE3B-469A-A249-B62B3AD6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2362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CED684A-9961-4AB6-81A6-573C034D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订单管理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786AE4D-0C73-4944-B59F-36F3EAEA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1943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按状态查询订单，核对前台操作是否同步到后台。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DAA2C6E0-236B-40E3-AC61-062DB6AC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2650"/>
            <a:ext cx="2362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BD2284C-6CD5-499D-87DA-290CC414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2650"/>
            <a:ext cx="2362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4E3FCFB-5E61-4C82-B706-017C61B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6B6D4"/>
                </a:solidFill>
              </a:defRPr>
            </a:pPr>
            <a:r>
              <a:rPr sz="1725" b="1">
                <a:solidFill>
                  <a:srgbClr val="06B6D4"/>
                </a:solidFill>
              </a:rPr>
              <a:t>统计分析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6A77493-EFD3-4EB7-B961-1597A517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0350"/>
            <a:ext cx="1943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支撑结课展示中的运营视角和数据闭环说明。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E329C1F4-497A-4916-92FA-C7E6378A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8191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pic>
        <p:nvPicPr>
          <p:cNvPr id="62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66017c16a4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4343400"/>
            <a:ext cx="4476750" cy="175260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pic>
        <p:nvPicPr>
          <p:cNvPr id="63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2dd68fbce44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4343400"/>
            <a:ext cx="4476750" cy="175260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E9388-5BC1-4037-9247-55074E04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4476750" cy="1752600"/>
          </a:xfrm>
          <a:prstGeom xmlns:a="http://schemas.openxmlformats.org/drawingml/2006/main" prst="roundRect">
            <a:avLst>
              <a:gd name="adj" fmla="val 434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D76F78-AC5E-4249-9FBD-31FC0A6C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476750" cy="1752600"/>
          </a:xfrm>
          <a:prstGeom xmlns:a="http://schemas.openxmlformats.org/drawingml/2006/main" prst="roundRect">
            <a:avLst>
              <a:gd name="adj" fmla="val 434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BE3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08740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D8756FE-8EE4-4E7D-BBB7-058683CC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3E2464B-ED26-468F-9A2D-B9E3EC9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552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06EF332-AD8A-4B4D-B9B8-BC66EFA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PART 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EF92A76-1E45-4615-9D0C-5A491237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技术架构与实现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58BB87C-3538-41B4-9DEA-87567B3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再看前端、地图服务、后端接口和数据库如何共同支撑这条停车业务闭环。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2C169EE-0615-4ACF-9A4A-9EE78D5A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97936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B25B201-97E8-4644-8D52-ABE2D4BE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862ABFD-43EA-4A04-8FF0-D21B0E80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E00786F-F651-4FDE-8703-64ED8F5C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FFA5EA8-B0C8-47D6-A96E-3732BEF0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D5A31D-89AA-470D-B8C6-775DF8D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108ED0B-9260-4AD2-AA68-EFECEFD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系统架构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54B2C6E-DB97-459E-9208-9CBA0AFB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前后端分离架构让地图体验和业务状态各司其职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85F3A32-7F7A-4487-B58E-807A9AA1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Vue 负责交互体验，FastAPI 负责业务规则，SQLite 保存演示数据。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CFD6C9D-83E0-4BD8-A100-A3888E0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A536AD4-8E11-41B0-9B77-08FE432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系统架构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CAD373E-7F48-4E28-B4B5-D42C6F9F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7F6A0E02-77F9-47C4-8A98-C00F3E77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C50B21-4177-4C44-A18F-713799B4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前端应用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9F2ACA4-699F-40CA-8D5C-86B65C44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Vue 3 / Element Plus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079322-E2E1-40E8-A27D-83EFE285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BD8F13D3-BC41-4C6E-9615-ED784343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037BFA2-7115-44AD-B433-DB4336B4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6B6D4"/>
                </a:solidFill>
              </a:defRPr>
            </a:pPr>
            <a:r>
              <a:rPr sz="1575" b="1">
                <a:solidFill>
                  <a:srgbClr val="06B6D4"/>
                </a:solidFill>
              </a:rPr>
              <a:t>地图能力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C3C21E7-EE65-4D6C-9A3B-4DFE572B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高德地图 JS API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FBDFB30-F72B-4659-9ECB-9A9B01D2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3A35D65A-EE3D-45CE-96E4-63BC6AD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743F2F1-12E6-4BC8-B998-340F1BCB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业务接口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660D5F8-64B6-4FE6-AEE0-7C99BBD2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FastAPI Routers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E936A17-6692-4331-8D54-6DA8EDA4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FA6062A3-3D03-45F8-8389-41D7F9A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09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158A19C-46DD-489C-A7DB-5B4571A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数据持久化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2E3E8BB-BDD7-4BE2-BF3F-B58B8C2C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SQLAlchemy / SQLite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D4049151-9D6F-402F-942E-E42D7B4F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9525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FC1B038-DA1C-4E6A-92A3-EF49A479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952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9D71DF2-6347-4510-88CC-048B909A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910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关键边界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B0CCA1F-BCAF-4BC7-9FFB-9C82938F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9105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高德地图负责目的地和周边 POI，系统内车场负责预约、入出场、订单、寻车和后台统计等可控业务状态。</a:t>
            </a:r>
          </a:p>
        </p:txBody>
      </p:sp>
    </p:spTree>
    <p:extLst>
      <p:ext uri="{BB962C8B-B14F-4D97-AF65-F5344CB8AC3E}">
        <p14:creationId xmlns:p14="http://schemas.microsoft.com/office/powerpoint/2010/main" val="4161285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86194F-9592-411B-BD5F-98C38216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3CE8D7F-9BCB-4104-8550-D6F75A48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7F15C9A-19EA-4040-8988-59FB124D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AD31D9-9367-4586-91A8-3DB45ECB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0EF73D-A2AC-4B24-A0E3-49A1BE7D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F6D111-CBCA-487C-AEBE-2AD2EB79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接口与数据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D8A53E7-08A7-413D-A6CA-8E5BF6DC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接口和数据模型围绕停车闭环设计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781459-20E9-4441-B9A0-164F41D0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路由与实体名称和业务场景一一对应，便于展示时解释系统实现。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C91712-8973-47E4-96A6-33A4D784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C5598FE-A010-48FD-8D96-E30F3EED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接口与数据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1331D3F-A398-43A5-A22C-833A449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8F29AF7A-FD4D-4648-B291-BCFE5262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043940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5210454-8140-488F-B810-57B6D5D4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043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398CB5-A21B-45D0-BC31-C6141792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后端路由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02C8979-1A7A-427B-92EE-B07C7810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66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核心能力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18C60E-1F1B-4873-84E8-2CCDF06A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关键实体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23BC762-2C44-4A56-840B-D3DFD12E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043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7CD0C97-B801-4FCD-9FE6-620CA51E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auth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40EFB33-3F3B-42D4-BD03-8F12128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登录注册、用户信息、权限基础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E94404F-0D07-4597-8C40-5F34A083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User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92E2804-CDFF-451F-9692-EE8241FF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lots / spots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172C42-4CCA-4C53-82AA-3CF8401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车场列表、车位状态、附近车场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3BB945E-8DBB-4F54-B957-1577D947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ParkingLot / ParkingSpot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8AB224-BD78-45E4-B578-69BD30C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043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469F1C6-5BA2-4DD5-9D10-3CE3870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reservations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B8D0DA3-B075-48B4-93AE-C623F6BD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预约创建、确认、取消、过期释放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319C602-7F7C-41BA-A31E-F9B9BD29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Reservation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0983819-83F0-4258-92CC-EF64BB01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orders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3A26E05-6F97-4683-BDC9-4D606609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入出场事件、订单支付、停车记录、寻车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4D15B18-8EDD-4043-9988-AF83DB5C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ParkingOrder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C3901F3-5115-49B6-8302-81C102D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043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BD0CD09-C533-45C7-8FD1-DB1EB2DA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admin / analytics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9FB16F0-33C9-4700-9CB5-19CFE055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后台看板、订单查询、运营统计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031A32-9B63-4047-993B-AC4B4378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运营数据</a:t>
            </a:r>
          </a:p>
        </p:txBody>
      </p:sp>
    </p:spTree>
    <p:extLst>
      <p:ext uri="{BB962C8B-B14F-4D97-AF65-F5344CB8AC3E}">
        <p14:creationId xmlns:p14="http://schemas.microsoft.com/office/powerpoint/2010/main" val="15052746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B5E8D31-D0B4-4D19-8846-AFFA17C8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0FCB06-EDE1-4608-B130-1991E4B6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79B4E02-CC35-4154-9116-998AB7C4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C16BEB6-E3B7-4BCD-96A2-6B6AE96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AF549B6-C375-4246-A43D-615D72BE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47BC580-EF20-47FD-9430-C7C60204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展示收束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9C7F37-715B-4E76-91F9-D372058F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最终落在一条可跑通的业务旅程上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FAE46AB-1D78-4403-96EA-F7457360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从普通用户到管理员后台，展示系统已经形成可运行、可演示、可维护的交付状态。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6078176-1CD7-4956-886A-4EEABCC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47021A-0F0C-4D07-BFB6-11BDB941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展示收束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C10B91B-F75E-4C05-99B8-533ABDC1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24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F6963611-1295-4C14-A158-C9665F1E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C7F8B8D-AD41-4D5F-BBBA-B6663C2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B20A881-BA56-44A9-9A39-C2684C6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登录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18C8C883-BD85-41AD-92D7-AA99B16F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479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52C82ED-0BFA-4B2E-957B-F2F70AD4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1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E325F0A-5308-482B-B463-21293E65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81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搜索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8FCEAEA7-CAB3-454B-BECA-A792E450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9CCB9BD-1EB8-4498-9D28-66B7E38C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1FF55B1-72B9-4586-8004-AFCF8FD1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推荐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9643F52-2A1C-4401-B70A-678F1F1B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479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985FD76-E8D0-40D6-AF3F-832F1CA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1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3FABCCC-48D5-4176-AAB7-37712D8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预约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EA384428-C16C-493C-9478-85C2BE02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F610FAE-4E71-496C-80A7-4D76E99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27F2CE5-EE1B-4F15-8C38-0EAB875B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入场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E4AAFCD1-14C7-4769-8C1E-6EAABDF9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D834922-9D57-4251-A345-57FD532A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994E72E-DF9C-4D6D-BCFF-5AED9BE8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寻车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3DA1C6AB-44FF-4F14-B089-8C4A70BA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9415F4D-A075-413A-8DE9-92CCE35D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1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E5FDD1D-62AB-4DF3-A8EA-216FAE04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支付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088A9338-5EE5-45C2-925D-306073D5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479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71CFE01-45D2-4196-BAD8-EF031E70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41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8DCCA44-1FBF-467F-8C82-3E6FD4D7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后台</a:t>
            </a: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20D5568F-90B5-4EAD-B257-0D4AD8D8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6FAC6913-09AC-42D5-B9B4-E18197EF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31AA655-AA8D-4E63-9B11-E08105EF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可运行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BD57D5E-A6F2-4D4F-A3E3-D6E3A1C5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前后端可启动，数据库含种子数据，接口文档可查看。</a:t>
            </a: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CF284AD8-2038-47C6-B951-D027809E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860D0A1-BA68-46FB-B0E9-B8863237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FD178E9D-7DD1-473A-8867-DE44DFEC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671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A34A"/>
                </a:solidFill>
              </a:defRPr>
            </a:pPr>
            <a:r>
              <a:rPr sz="1725" b="1">
                <a:solidFill>
                  <a:srgbClr val="16A34A"/>
                </a:solidFill>
              </a:rPr>
              <a:t>可演示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812A5D3-9EC7-4379-BE51-F191873A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86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一条车主旅程能串联地图、预约、订单、寻车和支付。</a:t>
            </a: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9E5603E1-242B-4FDD-A18B-7680FD74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42109FD-7F41-4631-B9B2-A1B05513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0DA3BC3-C24D-46F3-94FD-F75E425C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97316"/>
                </a:solidFill>
              </a:defRPr>
            </a:pPr>
            <a:r>
              <a:rPr sz="1725" b="1">
                <a:solidFill>
                  <a:srgbClr val="F97316"/>
                </a:solidFill>
              </a:rPr>
              <a:t>可维护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ED8C340-1424-45B5-A572-98473E44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86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前后端分层清晰，路由和数据模型与业务流程对应。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D73D05F3-7842-4624-A3C8-95BBF66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后续可继续接入真实摄像头、支付渠道和更细粒度的城市停车分析能力。</a:t>
            </a:r>
          </a:p>
        </p:txBody>
      </p:sp>
    </p:spTree>
    <p:extLst>
      <p:ext uri="{BB962C8B-B14F-4D97-AF65-F5344CB8AC3E}">
        <p14:creationId xmlns:p14="http://schemas.microsoft.com/office/powerpoint/2010/main" val="1022789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2026-07-10T01:58:52.9400000Z</dcterms:created>
  <dcterms:modified xsi:type="dcterms:W3CDTF">2026-07-10T01:58:52.9400000Z</dcterms:modified>
</coreProperties>
</file>