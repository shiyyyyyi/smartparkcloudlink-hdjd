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bc3fa8411d4bd9" /><Relationship Type="http://schemas.openxmlformats.org/officeDocument/2006/relationships/extended-properties" Target="/docProps/app.xml" Id="R7c8cd70e55294783" /><Relationship Type="http://schemas.openxmlformats.org/officeDocument/2006/relationships/officeDocument" Target="/ppt/presentation.xml" Id="Rf4cd8f97e3bd4e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a1c67a285e47db"/>
  </p:sldMasterIdLst>
  <p:notesMasterIdLst>
    <p:notesMasterId xmlns:r="http://schemas.openxmlformats.org/officeDocument/2006/relationships" r:id="R3a92a09029b34ab7"/>
  </p:notesMasterIdLst>
  <p:sldIdLst>
    <p:sldId xmlns:r="http://schemas.openxmlformats.org/officeDocument/2006/relationships" id="256" r:id="Rf7780360514d4412"/>
    <p:sldId xmlns:r="http://schemas.openxmlformats.org/officeDocument/2006/relationships" id="257" r:id="R8083fadcb1374c51"/>
    <p:sldId xmlns:r="http://schemas.openxmlformats.org/officeDocument/2006/relationships" id="258" r:id="R0a1ea7aa3c5146cf"/>
    <p:sldId xmlns:r="http://schemas.openxmlformats.org/officeDocument/2006/relationships" id="259" r:id="R302e656694854ff3"/>
    <p:sldId xmlns:r="http://schemas.openxmlformats.org/officeDocument/2006/relationships" id="260" r:id="R563d42bd836c4f29"/>
    <p:sldId xmlns:r="http://schemas.openxmlformats.org/officeDocument/2006/relationships" id="261" r:id="R6345aea0196b4d86"/>
    <p:sldId xmlns:r="http://schemas.openxmlformats.org/officeDocument/2006/relationships" id="262" r:id="R59fa1062b796491b"/>
    <p:sldId xmlns:r="http://schemas.openxmlformats.org/officeDocument/2006/relationships" id="263" r:id="Ra79dd50d6aed4439"/>
    <p:sldId xmlns:r="http://schemas.openxmlformats.org/officeDocument/2006/relationships" id="264" r:id="R1f6b6b0a99754fdb"/>
    <p:sldId xmlns:r="http://schemas.openxmlformats.org/officeDocument/2006/relationships" id="265" r:id="Ra4c68e826964427d"/>
    <p:sldId xmlns:r="http://schemas.openxmlformats.org/officeDocument/2006/relationships" id="266" r:id="Rf3eddcc50bed4034"/>
    <p:sldId xmlns:r="http://schemas.openxmlformats.org/officeDocument/2006/relationships" id="267" r:id="R52eea548a57f4e18"/>
    <p:sldId xmlns:r="http://schemas.openxmlformats.org/officeDocument/2006/relationships" id="268" r:id="Rfccee4d050254b5b"/>
    <p:sldId xmlns:r="http://schemas.openxmlformats.org/officeDocument/2006/relationships" id="269" r:id="R20d29c61017d4a71"/>
    <p:sldId xmlns:r="http://schemas.openxmlformats.org/officeDocument/2006/relationships" id="270" r:id="R94f7ba987a35491d"/>
    <p:sldId xmlns:r="http://schemas.openxmlformats.org/officeDocument/2006/relationships" id="271" r:id="R03680d425edb443b"/>
    <p:sldId xmlns:r="http://schemas.openxmlformats.org/officeDocument/2006/relationships" id="272" r:id="Rda9238c07c894b3a"/>
    <p:sldId xmlns:r="http://schemas.openxmlformats.org/officeDocument/2006/relationships" id="273" r:id="Rbd7295f995ee461a"/>
    <p:sldId xmlns:r="http://schemas.openxmlformats.org/officeDocument/2006/relationships" id="274" r:id="Rc15c599f0c1e4df8"/>
    <p:sldId xmlns:r="http://schemas.openxmlformats.org/officeDocument/2006/relationships" id="275" r:id="R8b09f470043c4d67"/>
    <p:sldId xmlns:r="http://schemas.openxmlformats.org/officeDocument/2006/relationships" id="276" r:id="R41fadfc986044c67"/>
    <p:sldId xmlns:r="http://schemas.openxmlformats.org/officeDocument/2006/relationships" id="277" r:id="R918071daa6bb46ce"/>
    <p:sldId xmlns:r="http://schemas.openxmlformats.org/officeDocument/2006/relationships" id="278" r:id="R8e54029448a84759"/>
    <p:sldId xmlns:r="http://schemas.openxmlformats.org/officeDocument/2006/relationships" id="279" r:id="Rf3cab77a8de4476c"/>
    <p:sldId xmlns:r="http://schemas.openxmlformats.org/officeDocument/2006/relationships" id="280" r:id="R562b522e2ea14c69"/>
    <p:sldId xmlns:r="http://schemas.openxmlformats.org/officeDocument/2006/relationships" id="281" r:id="R9bf2bf5fa73942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f49ac4b3054b7c" /><Relationship Type="http://schemas.openxmlformats.org/officeDocument/2006/relationships/slideMaster" Target="/ppt/slideMasters/slideMaster1.xml" Id="R29a1c67a285e47db" /><Relationship Type="http://schemas.openxmlformats.org/officeDocument/2006/relationships/notesMaster" Target="/ppt/notesMasters/notesMaster1.xml" Id="R3a92a09029b34ab7" /><Relationship Type="http://schemas.openxmlformats.org/officeDocument/2006/relationships/presProps" Target="/ppt/presProps.xml" Id="Rc60c8f58350c48e6" /><Relationship Type="http://schemas.openxmlformats.org/officeDocument/2006/relationships/tableStyles" Target="/ppt/tableStyles.xml" Id="R0042107dc4124da1" /><Relationship Type="http://schemas.openxmlformats.org/officeDocument/2006/relationships/slide" Target="/ppt/slides/slide1.xml" Id="Rf7780360514d4412" /><Relationship Type="http://schemas.openxmlformats.org/officeDocument/2006/relationships/slide" Target="/ppt/slides/slide2.xml" Id="R8083fadcb1374c51" /><Relationship Type="http://schemas.openxmlformats.org/officeDocument/2006/relationships/slide" Target="/ppt/slides/slide3.xml" Id="R0a1ea7aa3c5146cf" /><Relationship Type="http://schemas.openxmlformats.org/officeDocument/2006/relationships/slide" Target="/ppt/slides/slide4.xml" Id="R302e656694854ff3" /><Relationship Type="http://schemas.openxmlformats.org/officeDocument/2006/relationships/slide" Target="/ppt/slides/slide5.xml" Id="R563d42bd836c4f29" /><Relationship Type="http://schemas.openxmlformats.org/officeDocument/2006/relationships/slide" Target="/ppt/slides/slide6.xml" Id="R6345aea0196b4d86" /><Relationship Type="http://schemas.openxmlformats.org/officeDocument/2006/relationships/slide" Target="/ppt/slides/slide7.xml" Id="R59fa1062b796491b" /><Relationship Type="http://schemas.openxmlformats.org/officeDocument/2006/relationships/slide" Target="/ppt/slides/slide8.xml" Id="Ra79dd50d6aed4439" /><Relationship Type="http://schemas.openxmlformats.org/officeDocument/2006/relationships/slide" Target="/ppt/slides/slide9.xml" Id="R1f6b6b0a99754fdb" /><Relationship Type="http://schemas.openxmlformats.org/officeDocument/2006/relationships/slide" Target="/ppt/slides/slide10.xml" Id="Ra4c68e826964427d" /><Relationship Type="http://schemas.openxmlformats.org/officeDocument/2006/relationships/slide" Target="/ppt/slides/slide11.xml" Id="Rf3eddcc50bed4034" /><Relationship Type="http://schemas.openxmlformats.org/officeDocument/2006/relationships/slide" Target="/ppt/slides/slide12.xml" Id="R52eea548a57f4e18" /><Relationship Type="http://schemas.openxmlformats.org/officeDocument/2006/relationships/slide" Target="/ppt/slides/slide13.xml" Id="Rfccee4d050254b5b" /><Relationship Type="http://schemas.openxmlformats.org/officeDocument/2006/relationships/slide" Target="/ppt/slides/slide14.xml" Id="R20d29c61017d4a71" /><Relationship Type="http://schemas.openxmlformats.org/officeDocument/2006/relationships/slide" Target="/ppt/slides/slide15.xml" Id="R94f7ba987a35491d" /><Relationship Type="http://schemas.openxmlformats.org/officeDocument/2006/relationships/slide" Target="/ppt/slides/slide16.xml" Id="R03680d425edb443b" /><Relationship Type="http://schemas.openxmlformats.org/officeDocument/2006/relationships/slide" Target="/ppt/slides/slide17.xml" Id="Rda9238c07c894b3a" /><Relationship Type="http://schemas.openxmlformats.org/officeDocument/2006/relationships/slide" Target="/ppt/slides/slide18.xml" Id="Rbd7295f995ee461a" /><Relationship Type="http://schemas.openxmlformats.org/officeDocument/2006/relationships/slide" Target="/ppt/slides/slide19.xml" Id="Rc15c599f0c1e4df8" /><Relationship Type="http://schemas.openxmlformats.org/officeDocument/2006/relationships/slide" Target="/ppt/slides/slide20.xml" Id="R8b09f470043c4d67" /><Relationship Type="http://schemas.openxmlformats.org/officeDocument/2006/relationships/slide" Target="/ppt/slides/slide21.xml" Id="R41fadfc986044c67" /><Relationship Type="http://schemas.openxmlformats.org/officeDocument/2006/relationships/slide" Target="/ppt/slides/slide22.xml" Id="R918071daa6bb46ce" /><Relationship Type="http://schemas.openxmlformats.org/officeDocument/2006/relationships/slide" Target="/ppt/slides/slide23.xml" Id="R8e54029448a84759" /><Relationship Type="http://schemas.openxmlformats.org/officeDocument/2006/relationships/slide" Target="/ppt/slides/slide24.xml" Id="Rf3cab77a8de4476c" /><Relationship Type="http://schemas.openxmlformats.org/officeDocument/2006/relationships/slide" Target="/ppt/slides/slide25.xml" Id="R562b522e2ea14c69" /><Relationship Type="http://schemas.openxmlformats.org/officeDocument/2006/relationships/slide" Target="/ppt/slides/slide26.xml" Id="R9bf2bf5fa739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b837846668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60b868e554a77" /><Relationship Type="http://schemas.openxmlformats.org/officeDocument/2006/relationships/notesMaster" Target="/ppt/notesMasters/notesMaster1.xml" Id="R2c3c66f39cf4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6353f21a3a4400" /><Relationship Type="http://schemas.openxmlformats.org/officeDocument/2006/relationships/notesMaster" Target="/ppt/notesMasters/notesMaster1.xml" Id="Rf4f1d21f61a4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0896411a6345dc" /><Relationship Type="http://schemas.openxmlformats.org/officeDocument/2006/relationships/notesMaster" Target="/ppt/notesMasters/notesMaster1.xml" Id="Re0e43db6364040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a6ebbcf0774a12" /><Relationship Type="http://schemas.openxmlformats.org/officeDocument/2006/relationships/notesMaster" Target="/ppt/notesMasters/notesMaster1.xml" Id="R3659ed73da3946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64e4b9eae47f3" /><Relationship Type="http://schemas.openxmlformats.org/officeDocument/2006/relationships/notesMaster" Target="/ppt/notesMasters/notesMaster1.xml" Id="Ra057723bccdc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4bb4a4a78e4e13" /><Relationship Type="http://schemas.openxmlformats.org/officeDocument/2006/relationships/notesMaster" Target="/ppt/notesMasters/notesMaster1.xml" Id="Rcd3bc0f20a974f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27ab2b49a14375" /><Relationship Type="http://schemas.openxmlformats.org/officeDocument/2006/relationships/notesMaster" Target="/ppt/notesMasters/notesMaster1.xml" Id="R30599ca0435847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f2c8d5b0a549b7" /><Relationship Type="http://schemas.openxmlformats.org/officeDocument/2006/relationships/notesMaster" Target="/ppt/notesMasters/notesMaster1.xml" Id="R2b09a0b1a28f46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a1e6fffff34a14" /><Relationship Type="http://schemas.openxmlformats.org/officeDocument/2006/relationships/notesMaster" Target="/ppt/notesMasters/notesMaster1.xml" Id="R2df4fb664e8348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a8f1ec7b194b38" /><Relationship Type="http://schemas.openxmlformats.org/officeDocument/2006/relationships/notesMaster" Target="/ppt/notesMasters/notesMaster1.xml" Id="Rdc273b72746a4d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3d71e51d5c4946" /><Relationship Type="http://schemas.openxmlformats.org/officeDocument/2006/relationships/notesMaster" Target="/ppt/notesMasters/notesMaster1.xml" Id="R9fd9b8c8494e41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0b1adcc377419c" /><Relationship Type="http://schemas.openxmlformats.org/officeDocument/2006/relationships/notesMaster" Target="/ppt/notesMasters/notesMaster1.xml" Id="R61bdba5eddc545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334a48537b4097" /><Relationship Type="http://schemas.openxmlformats.org/officeDocument/2006/relationships/notesMaster" Target="/ppt/notesMasters/notesMaster1.xml" Id="Rd06533a621fb4d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cc7698d8f64374" /><Relationship Type="http://schemas.openxmlformats.org/officeDocument/2006/relationships/notesMaster" Target="/ppt/notesMasters/notesMaster1.xml" Id="R4fba6e27aa4349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09f8a514674500" /><Relationship Type="http://schemas.openxmlformats.org/officeDocument/2006/relationships/notesMaster" Target="/ppt/notesMasters/notesMaster1.xml" Id="Rdb870a7e70fe43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1b37512a9f4feb" /><Relationship Type="http://schemas.openxmlformats.org/officeDocument/2006/relationships/notesMaster" Target="/ppt/notesMasters/notesMaster1.xml" Id="R97388c5122a44e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947936675d4f1d" /><Relationship Type="http://schemas.openxmlformats.org/officeDocument/2006/relationships/notesMaster" Target="/ppt/notesMasters/notesMaster1.xml" Id="R21a969bdd8bc46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e9031231934e7d" /><Relationship Type="http://schemas.openxmlformats.org/officeDocument/2006/relationships/notesMaster" Target="/ppt/notesMasters/notesMaster1.xml" Id="Ra0e9e6fe74c44c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824580a6c54dc5" /><Relationship Type="http://schemas.openxmlformats.org/officeDocument/2006/relationships/notesMaster" Target="/ppt/notesMasters/notesMaster1.xml" Id="R9b0a50122c8d49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9b858f2afb4257" /><Relationship Type="http://schemas.openxmlformats.org/officeDocument/2006/relationships/notesMaster" Target="/ppt/notesMasters/notesMaster1.xml" Id="R57210c70a02f4f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6895dc9d654d46" /><Relationship Type="http://schemas.openxmlformats.org/officeDocument/2006/relationships/notesMaster" Target="/ppt/notesMasters/notesMaster1.xml" Id="R9bd27f8acf4246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3ebe2dff6d45f3" /><Relationship Type="http://schemas.openxmlformats.org/officeDocument/2006/relationships/notesMaster" Target="/ppt/notesMasters/notesMaster1.xml" Id="R3af5c9cdbf2c4a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3b6129027d41de" /><Relationship Type="http://schemas.openxmlformats.org/officeDocument/2006/relationships/notesMaster" Target="/ppt/notesMasters/notesMaster1.xml" Id="Rcc15833a9a5f41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3d8910870346e0" /><Relationship Type="http://schemas.openxmlformats.org/officeDocument/2006/relationships/notesMaster" Target="/ppt/notesMasters/notesMaster1.xml" Id="Rf3acd7ae020043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ec06c5fd9e4431d" /><Relationship Type="http://schemas.openxmlformats.org/officeDocument/2006/relationships/notesMaster" Target="/ppt/notesMasters/notesMaster1.xml" Id="R4f235a3848dd47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219668e7244379" /><Relationship Type="http://schemas.openxmlformats.org/officeDocument/2006/relationships/notesMaster" Target="/ppt/notesMasters/notesMaster1.xml" Id="Rc05777144507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09afacd1242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1e47fb3e9d4010" /><Relationship Type="http://schemas.openxmlformats.org/officeDocument/2006/relationships/slideLayout" Target="/ppt/slideLayouts/slideLayout1.xml" Id="R8e3ed095f097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3ed095f097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d787716804865" /><Relationship Type="http://schemas.openxmlformats.org/officeDocument/2006/relationships/notesSlide" Target="/ppt/notesSlides/notesSlide1.xml" Id="Ra9127d24c6284b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0528cd0b8470e" /><Relationship Type="http://schemas.openxmlformats.org/officeDocument/2006/relationships/notesSlide" Target="/ppt/notesSlides/notesSlide2.xml" Id="R4121607ae76c48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9fe3b0ea44d2b" /><Relationship Type="http://schemas.openxmlformats.org/officeDocument/2006/relationships/notesSlide" Target="/ppt/notesSlides/notesSlide3.xml" Id="Rbbbf2b78ad9e4e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042a7f86143d8" /><Relationship Type="http://schemas.openxmlformats.org/officeDocument/2006/relationships/notesSlide" Target="/ppt/notesSlides/notesSlide4.xml" Id="R441ea5e7dfce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680c948e84c88" /><Relationship Type="http://schemas.openxmlformats.org/officeDocument/2006/relationships/notesSlide" Target="/ppt/notesSlides/notesSlide5.xml" Id="Re0f981acb7ca40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bb461595a4221" /><Relationship Type="http://schemas.openxmlformats.org/officeDocument/2006/relationships/notesSlide" Target="/ppt/notesSlides/notesSlide6.xml" Id="Rc451d6a8dace44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5f523308640c2" /><Relationship Type="http://schemas.openxmlformats.org/officeDocument/2006/relationships/notesSlide" Target="/ppt/notesSlides/notesSlide7.xml" Id="R7615f43492b7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859fcc8934511" /><Relationship Type="http://schemas.openxmlformats.org/officeDocument/2006/relationships/notesSlide" Target="/ppt/notesSlides/notesSlide8.xml" Id="R5f2956010b444b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228e0d01840dc" /><Relationship Type="http://schemas.openxmlformats.org/officeDocument/2006/relationships/notesSlide" Target="/ppt/notesSlides/notesSlide9.xml" Id="Rbdb9dbc0e0c44f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d7365ead04ad8" /><Relationship Type="http://schemas.openxmlformats.org/officeDocument/2006/relationships/notesSlide" Target="/ppt/notesSlides/notesSlide10.xml" Id="Rcbce940b34b549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4ceaf6f234656" /><Relationship Type="http://schemas.openxmlformats.org/officeDocument/2006/relationships/notesSlide" Target="/ppt/notesSlides/notesSlide11.xml" Id="Re55b462ab98a45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687124b964f4f" /><Relationship Type="http://schemas.openxmlformats.org/officeDocument/2006/relationships/notesSlide" Target="/ppt/notesSlides/notesSlide12.xml" Id="Ra30ea879f502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1ca68cc564976" /><Relationship Type="http://schemas.openxmlformats.org/officeDocument/2006/relationships/notesSlide" Target="/ppt/notesSlides/notesSlide13.xml" Id="R0fdc333022c64e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99ab024614b78" /><Relationship Type="http://schemas.openxmlformats.org/officeDocument/2006/relationships/notesSlide" Target="/ppt/notesSlides/notesSlide14.xml" Id="R24ee001b734e40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d6a8f8e1848f2" /><Relationship Type="http://schemas.openxmlformats.org/officeDocument/2006/relationships/notesSlide" Target="/ppt/notesSlides/notesSlide15.xml" Id="Rd3efb8747cd94f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d6b2f9b8b4ab0" /><Relationship Type="http://schemas.openxmlformats.org/officeDocument/2006/relationships/notesSlide" Target="/ppt/notesSlides/notesSlide16.xml" Id="R516052d91dd843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bc39b88a54337" /><Relationship Type="http://schemas.openxmlformats.org/officeDocument/2006/relationships/notesSlide" Target="/ppt/notesSlides/notesSlide17.xml" Id="R104a0b5628a644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8261445bb4ca5" /><Relationship Type="http://schemas.openxmlformats.org/officeDocument/2006/relationships/notesSlide" Target="/ppt/notesSlides/notesSlide18.xml" Id="R9475ffbe83fd43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ba3d4b0394c2b" /><Relationship Type="http://schemas.openxmlformats.org/officeDocument/2006/relationships/notesSlide" Target="/ppt/notesSlides/notesSlide19.xml" Id="Reb5ef2155cf14f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a28999ef4901" /><Relationship Type="http://schemas.openxmlformats.org/officeDocument/2006/relationships/notesSlide" Target="/ppt/notesSlides/notesSlide20.xml" Id="Re1de375391ee44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90edea6f84492" /><Relationship Type="http://schemas.openxmlformats.org/officeDocument/2006/relationships/notesSlide" Target="/ppt/notesSlides/notesSlide21.xml" Id="R0a70548d271a45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e83b1894a4857" /><Relationship Type="http://schemas.openxmlformats.org/officeDocument/2006/relationships/notesSlide" Target="/ppt/notesSlides/notesSlide22.xml" Id="R6e01048ef3ed4d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f812b50004270" /><Relationship Type="http://schemas.openxmlformats.org/officeDocument/2006/relationships/notesSlide" Target="/ppt/notesSlides/notesSlide23.xml" Id="R6564c88e93134f1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0f92b8034bf1" /><Relationship Type="http://schemas.openxmlformats.org/officeDocument/2006/relationships/notesSlide" Target="/ppt/notesSlides/notesSlide24.xml" Id="R8a80b61b14b343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7d40dd0c24ec7" /><Relationship Type="http://schemas.openxmlformats.org/officeDocument/2006/relationships/notesSlide" Target="/ppt/notesSlides/notesSlide25.xml" Id="R078367f440ab4b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e73374af042c9" /><Relationship Type="http://schemas.openxmlformats.org/officeDocument/2006/relationships/notesSlide" Target="/ppt/notesSlides/notesSlide26.xml" Id="Ra520d8c281d9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2409E-C272-4CA9-96D3-2E0C7763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20467-5700-43C1-9F81-5CF6CC4E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66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17B1F-63B6-4F9E-AD76-8D2EF823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软件工程实训 · 第19组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2B414-92BF-4CD3-BE96-2118EE66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智慧停车管理系统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V3.0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80103-FD05-4B92-A586-A2DF2309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0F2FE"/>
                </a:solidFill>
              </a:defRPr>
            </a:pPr>
            <a:r>
              <a:rPr sz="1800" b="0">
                <a:solidFill>
                  <a:srgbClr val="E0F2FE"/>
                </a:solidFill>
              </a:rPr>
              <a:t>城市停车一张图 · 本地评分推荐 · 预约与支付闭环 · 反向寻车 · 运营后台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B9FDC-51C9-4E6D-8825-44BFAAC6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19200"/>
            <a:ext cx="30289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3"/>
          </a:solidFill>
          <a:ln xmlns:a="http://schemas.openxmlformats.org/drawingml/2006/main" w="9525">
            <a:solidFill>
              <a:srgbClr val="2D43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B97B3-6597-4ACF-B709-EF452F5E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81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6B6D4"/>
                </a:solidFill>
              </a:defRPr>
            </a:pPr>
            <a:r>
              <a:rPr sz="2850" b="1">
                <a:solidFill>
                  <a:srgbClr val="06B6D4"/>
                </a:solidFill>
              </a:rPr>
              <a:t>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4FB39-37CD-4C83-9353-8FDE9E97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验收演示版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可运行 · 可演示 · 可提交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90D9C-3C23-431E-A90B-66B8BC8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190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5B9F5-1B8B-4A30-9AD5-CF4DD9FE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PowerPoint 演示稿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A7662-4717-4D75-86C7-97E43DD8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D2FE"/>
                </a:solidFill>
              </a:defRPr>
            </a:pPr>
            <a:r>
              <a:rPr sz="1125" b="1">
                <a:solidFill>
                  <a:srgbClr val="C7D2FE"/>
                </a:solidFill>
              </a:rPr>
              <a:t>2026 · SmartParkCloudLink-hdjd</a:t>
            </a:r>
          </a:p>
        </p:txBody>
      </p:sp>
    </p:spTree>
    <p:extLst>
      <p:ext uri="{BB962C8B-B14F-4D97-AF65-F5344CB8AC3E}">
        <p14:creationId xmlns:p14="http://schemas.microsoft.com/office/powerpoint/2010/main" val="515019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87322-AA8B-461E-9591-C7193C3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1D593-05F7-49EC-939F-350FE8B7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B0E40-BB47-4ACD-AD60-931A6EE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35A63-029E-4F5C-A312-45DD707D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94DCC-F3BF-4497-9988-E6770279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汇报结构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C2A59-0BD0-4D8E-BA93-3F2ADD48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这份演示按验收逻辑展开，而不是只罗列功能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6CE8B-EC9D-4CDD-B6BB-E0798F71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从问题和目标出发，依次说明产品、技术、核心流程、验证结果和提交方式。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872E5-B409-4B63-B6F2-59BD216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082B6-147F-4E6C-A1EF-F9882B5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汇报结构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DF3BF-243E-4684-9228-43DAAB1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23849-C300-45D8-B5F0-3F10349D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0CBBE-B381-4BE2-88C9-73780BEC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3CCDA-BB2D-4921-9A30-85982678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项目背景与验收目标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D8204-F846-4E29-9511-5E3E06DB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62375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解释为什么做、验收到什么程度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AEBA2-EB6A-4DCF-95A6-D04CABE5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759F5-9E2A-4D5A-8B65-D5D87B0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57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A34A"/>
                </a:solidFill>
              </a:defRPr>
            </a:pPr>
            <a:r>
              <a:rPr sz="3000" b="1">
                <a:solidFill>
                  <a:srgbClr val="16A34A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32B28-F5A0-4D63-B4EA-E55A5D5F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产品功能与用户旅程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73B9E-6602-4E01-AFF2-04F537D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762375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展示车主端、地图、预约、寻车和后台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9CAE1-767D-4DC6-8E09-AA8042EA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8870F-7B2B-4EF6-9412-15461825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97316"/>
                </a:solidFill>
              </a:defRPr>
            </a:pPr>
            <a:r>
              <a:rPr sz="300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82DD2-24EE-40D4-9C6A-A2000900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技术架构与数据状态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6972F-D373-49B8-996F-EB1EDF68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62375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说明前后端、地图 API、订单状态与一致性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8F00F-34B5-420D-9FCA-28038A4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238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7353F-0828-4706-853C-EAE231B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57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B6D4"/>
                </a:solidFill>
              </a:defRPr>
            </a:pPr>
            <a:r>
              <a:rPr sz="3000" b="1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40F25-85F9-4267-BCF0-8BC729A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现场演示与交付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0B09C-9804-4CF1-97B2-EB23C17A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62375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给出演示脚本、检查结果和 GitHub 提交方法</a:t>
            </a:r>
          </a:p>
        </p:txBody>
      </p:sp>
    </p:spTree>
    <p:extLst>
      <p:ext uri="{BB962C8B-B14F-4D97-AF65-F5344CB8AC3E}">
        <p14:creationId xmlns:p14="http://schemas.microsoft.com/office/powerpoint/2010/main" val="2119389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1FB31-72A7-415F-B958-9D47C4E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FCE63-49E2-486A-9BAE-0C04F5CC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C1509-D799-40D0-B4DD-E4810105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EAE07-B368-4DBA-A2CD-5149D14E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2D94C-B5F5-4961-B30C-1441803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40882-0F04-43B4-9F80-C3951869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停车难的核心不是没有车位，而是信息与流程没有连起来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772AA-9467-41C4-B606-504D04CF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V3 版本把车主决策、车场状态和后台运营放在同一套业务链路里验证。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27F5F-DE1A-473C-9DE4-D084D8F3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83C92-9900-427A-9478-91863C27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项目背景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44FD0-575B-427B-AC85-5C0E8B1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02233-57E2-4C76-9099-C777B25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24AF7-9119-4FD2-8183-C6C4268C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4291C-863C-4C89-8C12-5D5B863D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车主痛点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8D54D-18BB-4933-9F28-C752A61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不知道目的地周围有哪些停车场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价格、距离、空位需要人工比较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停车后找车缺少系统化指引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AC905-307B-4E84-BA44-6A8AEF91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8A6D4-A23C-477C-8224-3C753F47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1223B-918B-42DE-89A9-9EC3A8F8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车场痛点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4E0BC-378C-4372-B2E1-B00C64B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空位状态更新不及时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预约、入场、计费、支付链路割裂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异常占位和重复入场容易破坏数据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36E97-F674-4296-A1F0-4819203B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2794C-524F-4BEF-9EC8-735E9B6E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5AF9A-AC3A-4164-9CD4-4A57FF47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管理痛点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764CE-66E9-46E8-92CC-00F2911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2819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订单、车位和收入缺少统一视图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统计滞后，无法快速掌握运营状态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缺少可演示的监管与分析入口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62555-ECB8-4ED6-8205-27677132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项目回应：先用可运行系统打通核心闭环，再为真实设备、支付通道和城市级分析预留扩展空间。</a:t>
            </a:r>
          </a:p>
        </p:txBody>
      </p:sp>
    </p:spTree>
    <p:extLst>
      <p:ext uri="{BB962C8B-B14F-4D97-AF65-F5344CB8AC3E}">
        <p14:creationId xmlns:p14="http://schemas.microsoft.com/office/powerpoint/2010/main" val="467162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E5C58-E75A-48EE-AEE5-62B695A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0AD03-AE37-4D27-B938-3198F972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161B7-153C-4355-AD5E-0AE994E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B9509-8715-4F23-A33B-4D519257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DFFCE-04B4-471B-AE3A-E83B362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验收目标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A9F14-72A5-4CCD-B8CD-3051E010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V3 的目标是形成一条可以现场跑通的停车业务闭环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8DCDA-A3DB-4631-865C-A0E59705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验收不只看页面数量，更看业务状态能否前后联动。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AE80A-8EE3-4B85-9158-B3B0F1B5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07F24-5865-4744-BC39-9F5CCBA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验收目标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A47EC-5C59-47A3-BD3B-D1ECCBA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2E9BA-9685-4595-AB3A-46A4A18E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4669E-70C0-4D90-B50B-EA138EAC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563EB"/>
                </a:solidFill>
              </a:defRPr>
            </a:pPr>
            <a:r>
              <a:rPr sz="330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5ECA6-5957-4127-B8DD-DD250B9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核心业务能力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6B339-8439-4D9E-94A7-82128B43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4FC0E-7C92-4162-9A1A-6766191B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6A34A"/>
                </a:solidFill>
              </a:defRPr>
            </a:pPr>
            <a:r>
              <a:rPr sz="3300" b="1">
                <a:solidFill>
                  <a:srgbClr val="16A34A"/>
                </a:solidFill>
              </a:rPr>
              <a:t>10+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3F803-92DB-43C9-A128-F1420611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前端业务页面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BDF40-421D-44E5-A65E-88D5700B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A956B-DFEB-4EE5-8826-0B6CD6FC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97316"/>
                </a:solidFill>
              </a:defRPr>
            </a:pPr>
            <a:r>
              <a:rPr sz="3300" b="1">
                <a:solidFill>
                  <a:srgbClr val="F97316"/>
                </a:solidFill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91109-4164-4ACC-9C3C-26D74205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后端路由模块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D9889-C980-451C-A197-F6F0112F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238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3154E8-9989-47AE-9278-D635839C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6B6D4"/>
                </a:solidFill>
              </a:defRPr>
            </a:pPr>
            <a:r>
              <a:rPr sz="3300" b="1">
                <a:solidFill>
                  <a:srgbClr val="06B6D4"/>
                </a:solidFill>
              </a:rPr>
              <a:t>1 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59DA5-932B-4716-87DE-66AE7DA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完整演示主线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49386-2F91-4155-8447-8F67B63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E0A5C-DD5B-45DC-85AD-BE29874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验收维度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10084-B9AE-4A6F-BA14-2652D30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475E5-01F6-4B4A-A1AD-80C32DC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达标方式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24AC8-3FFC-42F9-A9BE-5C95E9BF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AC6EE-31BC-436B-A265-09871382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对应体现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51303-40F3-4199-AE8F-F2F62CB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148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F05FED-67FA-4B53-8345-F3DD1BEF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可运行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358DA-6748-4A52-812D-A9CEF957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148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E2169A-A625-4A21-8E7B-3E94D22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前后端可启动，构建检查通过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B892F7-CFC4-4C9C-80D3-3F3F3F03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4AE6A2-8016-4ED6-9D90-1F1E87F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FastAPI + Vue3 + SQLite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387F48-0B5A-428C-8AD3-5D589ABF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E1C95B-EAA3-4A07-B87C-B870170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可演示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9FD39A-EE23-46D9-BEA5-0654E008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720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A4DC02-0059-4571-B04E-7313A18E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672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主流程从登录到支付离场闭合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F87BEB-9664-4A01-9F21-067934C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287696-A2DB-48A5-A740-DFB7E709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地图推荐、预约、模拟入出场、寻车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88C561-A2B0-4920-8078-16EB49AF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292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DA5AEE-FAF3-42F9-A648-02AC46CF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244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可解释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5E4AB7-972D-4B73-ACBC-E90C59AB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292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16508-0249-468C-BA20-32BE224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244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README 和 PPT 能说明设计取舍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AB2416-05B2-4FBA-91F7-6066D41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292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F257AD-93BC-4DEB-92BA-5572A98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244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本地评分、状态机、接口边界</a:t>
            </a:r>
          </a:p>
        </p:txBody>
      </p:sp>
    </p:spTree>
    <p:extLst>
      <p:ext uri="{BB962C8B-B14F-4D97-AF65-F5344CB8AC3E}">
        <p14:creationId xmlns:p14="http://schemas.microsoft.com/office/powerpoint/2010/main" val="1922222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3B662-2452-4488-B827-1F335A3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78FD0-8D1A-4A35-AC26-6DB89415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04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5B496-9A3E-4166-9D2A-D2D133D8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A2E03-7DE2-4325-BA9E-59D3EA3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产品能力全景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8DE4E-5179-4E4F-983A-685FBE7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AFE"/>
                </a:solidFill>
              </a:defRPr>
            </a:pPr>
            <a:r>
              <a:rPr sz="1800" b="0">
                <a:solidFill>
                  <a:srgbClr val="D8EAFE"/>
                </a:solidFill>
              </a:rPr>
              <a:t>先看系统给谁用、能做什么，以及一条完整停车旅程如何走通。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A94D0-40E2-41E9-B66A-1F97B98D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8533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85996-A16E-4F9C-8E4A-8539CA73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2C480-1AAE-4E71-BD40-83E081FE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06959-88DF-438F-9B22-9D72309F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F5A74-465C-4CE2-AA27-FF108DA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1FAEC-8464-49BB-AB5E-3DB1AEB5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角色与入口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7802B-044B-41F6-95A4-477790D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系统把车主端和管理端分开，演示路径更清晰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A7225-2EB6-4214-BAAA-F2ED7864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默认进入登录页，普通用户进入停车流程，管理员进入运营后台。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BD899-100D-404D-9295-9574451D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E78E6-A88C-4177-A3B0-F76571AC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角色与入口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AC1D6-7A9A-4911-BD7C-5F5ABE8C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9E14C-979D-4916-86E6-1DC9F05D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2861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E6DAC-887B-4217-AB35-632F09A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79D60-3D27-4C4D-8E59-F830CEC3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普通用户 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F1E6F-A7AF-4BD8-AB42-ACFB0BDE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8670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账号：user / user123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进入首页地图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完成目的地搜索、推荐、预约、订单、寻车和支付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198C4-2595-4A2C-92D1-514EB7D9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61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C0DCA-5C77-4634-AEDF-2FA3D8F7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14C2C-9E15-469D-BE88-405E64F2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管理员 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9F0B2-8CD7-4E82-ADF0-25BDF537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28670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账号：admin / admin123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进入独立后台布局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查看车场、车位、订单和运营统计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5CB97-3D7D-4633-9DE0-B665126D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2861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2492F-7DE9-4A0A-9245-CAD9D08F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655A1-E508-4FDA-B676-6687DCC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路由守卫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84C1A-C3CC-4B17-A0C2-1F432E78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8670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未登录访问业务页会回到 /login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后台路由校验 admin 角色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防止演示时误入错误页面</a:t>
            </a:r>
          </a:p>
        </p:txBody>
      </p:sp>
    </p:spTree>
    <p:extLst>
      <p:ext uri="{BB962C8B-B14F-4D97-AF65-F5344CB8AC3E}">
        <p14:creationId xmlns:p14="http://schemas.microsoft.com/office/powerpoint/2010/main" val="640815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0C25F-4F4D-4FFD-8937-3527B289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C7D14-1C9E-4BCF-95E5-907C2C24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9D727-661D-4248-AA6A-65D49F1E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1918B-C05C-46D6-BF7D-B585B397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F58B0-7434-44F6-9526-33A31E4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用户旅程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E2F13-D644-4F90-8B2C-558EC385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一次停车演示可以从目的地搜索一直走到支付离场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DD5C3-8CAF-4CD1-940D-CF414B2D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V3 把首页、预约、订单、寻车和后台数据串成连续故事。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D29F0-E8F7-4960-94D2-2469FC9F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1DB06-9023-41D6-87C7-EDF4D140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用户旅程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12406-E3A8-4078-B3AF-A0FFDB6B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7DAFD-9CCD-4C40-8E95-EBE6783A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4AD67-6C29-4308-A2D4-811A83C5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6C9A6-2ED2-4232-A0DA-4DE7ABF0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登录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F032E-4EBF-434F-8B63-040B3818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38375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08C7B-9FAD-44F8-9889-AF1A944C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52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07D8-6933-432D-947E-E126831D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00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搜索目的地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D9E86-F38C-40A9-8AD9-4E9189CB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38375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7ACC4-F7C6-4523-9237-136D9DE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52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77752-EB94-43FB-A163-64AF3CA0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0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评分推荐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FD9F6B-9162-4FEF-9446-E4BDE011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38375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E33D8-41B6-443B-A26F-3E75652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52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46353-ADE9-4E3C-BD6A-4B6CDE39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0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预约车位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4E38B-6E59-4DAC-ABAA-D38BFEBC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8375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957F9-F680-4B12-BDF3-1C4021B8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52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81A88-162B-4BDC-8D8D-B855F37E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模拟入场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066AA-2E4C-4F03-8832-F981A628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EBA3-07E8-42A6-B065-3169672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52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0E543-B0A3-4CD9-B456-5832923C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0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反向寻车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978BE8-2715-4488-955B-BF2E5C65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50DCA8-F1CB-409F-9C8D-F7139A7A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526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A6F974-CE3B-485B-9E77-839C59AA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03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出场支付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BC0CA6-77A2-4D01-B370-106B066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532D6A-A56C-4331-90D0-18F21D7A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927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车主端演示重点：地图找车位、系统给推荐、预约后通过模拟入场生成订单。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360AAC-059E-4571-9919-1949C2E8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1AB983-ACEF-42F9-91BC-BDADFB67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7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运营端演示重点：后台查看车场和订单，验证前台行为会沉淀为可管理数据。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210E73-8C52-494B-9A18-63C098FC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7B768D-B3F3-4C2E-B912-EC31E686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33950"/>
            <a:ext cx="927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最终讲解重点：系统不是静态页面，而是前后端共同维护业务状态。</a:t>
            </a:r>
          </a:p>
        </p:txBody>
      </p:sp>
    </p:spTree>
    <p:extLst>
      <p:ext uri="{BB962C8B-B14F-4D97-AF65-F5344CB8AC3E}">
        <p14:creationId xmlns:p14="http://schemas.microsoft.com/office/powerpoint/2010/main" val="3634205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EABBE-B46D-4644-974C-A2EE1178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F318B-D575-4D20-ABD6-375C4CB9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4812-9883-473D-8F16-E227EFA7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2E7D5-B178-40CC-AF56-7C7AAE99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968B3-3E06-45A8-BEEE-D66EE47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功能总览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46FE-5D95-4801-881E-D2AF9A8B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V3 已覆盖车主端、地图推荐、预约停车和运营后台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5725F-46A4-4FCF-8CDB-E2E28E7B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每个能力都对应前端页面和后端接口，便于验收时逐项说明。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E2BF5-CC5F-4B71-B5B8-7E3AD033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12E70-9E69-4542-A79D-27C9C0B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功能总览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60265-5ABD-4533-8C2F-F37CB4DD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915D3-E5A0-464E-822E-1F2F043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E6F74-E27B-498D-9007-F4890A56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25C94-7E76-465D-83B9-A9B70D3D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812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25121-7465-4728-A20D-767C6013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76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核心功能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B2C78-39DC-40BA-A559-DE0E8717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812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186C6-F542-4E90-A120-D2F54EFB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76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页面入口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1CC51-9FBC-4755-B7E8-53D0BC6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812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C6FA6-B963-4BC0-B8DD-09D81014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后端支撑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380B2-5C2D-4E5D-9857-18ACFD1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DAE72-E80E-4A88-B871-5D3B46A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用户端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922F3-E697-45FE-8629-5B2EF9A4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574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769FE-D20C-4718-9CB2-9C210D2C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52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登录注册、个人资料、车牌维护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C5B66-37CC-4FCC-90E9-8D08A113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574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C584E-5833-432E-9D48-B81D291F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52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Login / Mine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8816D-244D-4D0F-9D81-BB04C78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36B3D-03B5-4FC8-81F2-FB990EA3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13A2A-E473-4351-BE97-15327F4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74BF8-EA1F-4786-80DD-D6294FAE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地图诱导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F1F124-DA40-4687-A229-052BF363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57A7E4-231B-499F-8DB1-4D668F27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28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目的地搜索、POI 推荐、地图标记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370FD-A73D-417E-A630-81A59C24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9C3BFB-C56C-4143-8B67-2A198DDE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28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Home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F3E25D-99ED-458A-824F-5908A87E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337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425810-BA12-4FE1-9AD4-CEC5741F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28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lots + 高德 JS 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2CA51-FD7A-4EFA-86BF-F896442B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3C74E7-2105-46A0-98BF-2F66106A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预约停车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813527-1AF3-4AC7-90A5-0A1E9B7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99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0A411-2C9F-42DB-B6D4-BA3872E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05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预约、确认、取消、过期释放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D6245-81A3-4542-8F38-887A767E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099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B5E41C-7A11-4DFD-87E5-78307D8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05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LotDetail / Reservations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578396-0A33-4B0C-940A-95496E0F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DFD2C7-BD6F-4CC9-84E5-EBDC5596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05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reservations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F071C3-9850-4B61-B2E7-78E5F4AA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705BD4-6CCF-4B86-90B4-E4F92B87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入出场计费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2DC646-CBDE-4A30-B96F-4F4426A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862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9BA471-402F-4188-94E1-882BBFD1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81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模拟识别、订单、支付、记录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0CF567-76B0-427D-947F-CC4FA36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862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2761BD-4CD6-4763-9B59-B637D278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81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Home / Orders / Records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9D6BEC-621E-4A4C-8E28-4882FFB8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862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67322E-0209-4A8E-B24F-7CBF749C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81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orders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9C62D7-627A-4759-A284-87119A6F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67AAF5-2651-413C-A720-7DFD655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反向寻车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B96E72-48C8-4A0D-8556-662ED5CB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624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B51B6C-3612-4724-BFBE-9BCFC67B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57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当前车辆、车位位置、路线步骤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AFC3A0-D980-4F98-96D7-F285AC1D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624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E66225-CE47-4A15-8994-7F313E14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57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FindCar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021201-EC16-4278-B791-20D42541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624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6CBC1E-7CB9-43FF-BEDB-A6A6FE9E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57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orders + spots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7C4AE4-8512-4749-BDCD-2441109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571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36A978-A389-4236-A32F-99C2705E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管理后台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D59884-DFB6-4294-BD85-5B621E9B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387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064EE4-5744-40BC-A092-B17B655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33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看板、车场、车位、订单、统计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5AFD77-DF01-40B6-B1DE-FAE332E0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387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6309F9-32FC-476E-88D5-717FA42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33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AdminLayout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B36CD0-340B-4AEF-A982-1239881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387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E05CA6-AAAF-4D22-9A94-5A6B18D8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33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admin / analytics</a:t>
            </a:r>
          </a:p>
        </p:txBody>
      </p:sp>
    </p:spTree>
    <p:extLst>
      <p:ext uri="{BB962C8B-B14F-4D97-AF65-F5344CB8AC3E}">
        <p14:creationId xmlns:p14="http://schemas.microsoft.com/office/powerpoint/2010/main" val="982876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36ADD1-1A0B-4BFC-AE5F-85EFC8A7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FDAD8-E42D-4BDD-AE46-0D2040B0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D7680-DF72-4202-BC2B-39253EA5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020B1-AE0F-450D-B10A-A4EE4EE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91CCD-518D-4E41-BF3C-0E8D1E8D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城市停车一张图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664A0-DCFD-4C2C-B359-FCE854C7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首页地图从“展示车场”升级为“围绕目的地推荐停车地”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895CE-C2BA-4EAF-B451-E1E1544D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用户输入目的地后，系统定位目标并检索周边停车场，让地图成为主入口。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8AE9E-207C-46A0-97F0-C41CAC1A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C1D31-1975-422E-9303-F911489D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城市停车一张图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5B785-00DB-4C36-BABB-CE87DE4D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F7A61-FA81-4D6D-9EC2-98024EFD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5FD6F-87FB-4D79-9B35-DA02400E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699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搜索栏输入目的地，例如南昌西站、华东交通大学、万达广场。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FA5D4-E50B-4BA9-A7BA-05062172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3E612-0800-4B3F-8838-DCA99E2D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699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高德 PlaceSearch 返回目标坐标，地图上保留“目标”标记。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54C63-2195-441F-86F7-2F417D2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30B16-2CB4-4DB5-8C52-56E21ABE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699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周边停车场以 POI 标记展示，点击标记弹出可操作信息窗。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600C1-F551-4694-A22A-17F351BB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0987A-BB08-45ED-9E54-755F067E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699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系统车场支持预约，高德 POI 支持导航，来源在界面中明确标识。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8C80F-5C9C-4BB0-BBF9-8F2BF42F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2383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69457-519A-443D-93EB-1AC7368A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AC594-4F63-4DAC-90F3-044EC064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3FCAC-8A2A-4B63-9F15-8C9CC623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1666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目标点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停车场 P 点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可点击浮窗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导航入口</a:t>
            </a:r>
          </a:p>
        </p:txBody>
      </p:sp>
    </p:spTree>
    <p:extLst>
      <p:ext uri="{BB962C8B-B14F-4D97-AF65-F5344CB8AC3E}">
        <p14:creationId xmlns:p14="http://schemas.microsoft.com/office/powerpoint/2010/main" val="1302788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7E28A-BDE3-4D2C-9CB6-85012B9D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435A3-B8E2-4090-AEB8-2397BED0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87CE6-B2F4-4F9C-A06D-F8F3F93B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4A8EB-203E-4CFD-891B-8AF86C6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7B98C-6AF4-4070-9504-6D64EE8F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本地评分推荐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E4AC5-0455-479A-8B7D-88A50EC2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推荐能力保留在本地，演示稳定性更高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552C9-3020-4359-B5F2-029E7A88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删除 DeepSeek 后不再依赖密钥或外部 AI 服务，但仍能按停车场特征自动推荐。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5658F-6067-46E2-BE1A-FB9E6268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00F30-D924-4FA9-98E3-F6F0F7FE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本地评分推荐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F475F-D151-4217-B6B7-0CC2F68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E6B5B-ABC0-4F58-88C1-CADE4F70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71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距离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3E44E-114D-41DB-96D0-499AAAE5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越近得分越高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6E42A-DD66-436E-B3DF-E458DC4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002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55DCA-44AC-4E4C-BB68-F4905571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00275"/>
            <a:ext cx="224028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7AF97-BD3A-4BBA-87B9-833B4668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431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42%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3DCE2-1048-4C6E-953D-2C534D92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7657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价格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B2A92-36C9-4EB0-BC7B-E620B823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95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越低得分越高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5B95A-06D5-48F9-9D58-CA8233E1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051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41C5C-6A8B-40DB-9E2B-11CE209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05150"/>
            <a:ext cx="14935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704A1-5043-4C9F-AE16-4E2B2F2B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16A34A"/>
                </a:solidFill>
              </a:defRPr>
            </a:pPr>
            <a:r>
              <a:rPr sz="2250" b="1">
                <a:solidFill>
                  <a:srgbClr val="16A34A"/>
                </a:solidFill>
              </a:rPr>
              <a:t>28%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869E8-6CC7-422A-B216-0FDFBC03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814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空位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26EBA-19F5-4001-91CF-C8B76412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剩余越多得分越高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D843F-D7D5-483F-A674-786E09B8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1002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E9A8C-2E9B-46CB-8389-B25DCD91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1002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68715-5857-4895-8288-79D9F8C5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528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30%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B2FA5-93E7-4FC3-9078-66766855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942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8645D-EABE-4B55-BFCF-CB731612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942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E181C-A385-430E-992F-9C8F350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62550"/>
            <a:ext cx="901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B6D4"/>
                </a:solidFill>
              </a:defRPr>
            </a:pPr>
            <a:r>
              <a:rPr sz="1650" b="1">
                <a:solidFill>
                  <a:srgbClr val="06B6D4"/>
                </a:solidFill>
              </a:rPr>
              <a:t>推荐公式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589B42-1D05-478B-AC3A-4AB030D7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581650"/>
            <a:ext cx="901065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综合评分 = 距离得分 × 42% + 价格得分 × 28% + 空位得分 × 30%。列表重新排序、目的地变化或 POI 更新后会自动刷新推荐。</a:t>
            </a:r>
          </a:p>
        </p:txBody>
      </p:sp>
    </p:spTree>
    <p:extLst>
      <p:ext uri="{BB962C8B-B14F-4D97-AF65-F5344CB8AC3E}">
        <p14:creationId xmlns:p14="http://schemas.microsoft.com/office/powerpoint/2010/main" val="826969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516BE-B9C9-4914-9FD6-BE8D026B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DF428-711A-442B-81CA-23BCEB2A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0F5CE-7E49-4E8A-B55E-D437A76A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60DC8-6D64-4789-9C63-D03038C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705F8-A169-4CEC-9386-D928AAEF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停车列表与操作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AFA57-0AD3-4A52-8051-8290D0F5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排序、推荐、导航和预约统一在首页完成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9E052-3E17-41B0-9C59-910418EC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用户不需要在多个页面之间来回找入口。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0E01B-03C8-403A-BC54-E552C952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4CBEA-10D9-49A1-97C8-E89BE76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停车列表与操作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6E75B-4CD9-4A21-B3AA-58C07265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13CA5-E8C6-4EB4-A48F-3A34599D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908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88261-4078-4AB6-A55F-FFC1E87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B8879-966F-486B-B44E-2C5146BF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排序能力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1886E-33BB-4201-83E2-3DECF86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7717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距离最近：优先减少步行和绕行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价格最低：适合价格敏感用户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车位最多：高峰期提高成功率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5146A-BCE3-49AD-900F-C7129741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1908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53837-DFF6-4C7E-831B-AAC2C1D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3B5CA-873A-4069-9762-EF4645B4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地图联动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33861-D3A3-48ED-80D1-49735BA9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717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点击列表定位到地图标记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点击地图标记打开信息窗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当前选中车场高亮展示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BC04A-AC17-4219-9883-D53F12CD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1908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FACCF-5959-413F-83D3-8E14FE2C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4C7C8-9565-4605-BC44-4A993644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差异操作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119A0-25E7-4A77-90C7-D496C34C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7717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系统车场：可查看详情和预约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高德 POI：可查看位置和导航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估算数据在界面中说明</a:t>
            </a:r>
          </a:p>
        </p:txBody>
      </p:sp>
    </p:spTree>
    <p:extLst>
      <p:ext uri="{BB962C8B-B14F-4D97-AF65-F5344CB8AC3E}">
        <p14:creationId xmlns:p14="http://schemas.microsoft.com/office/powerpoint/2010/main" val="1910435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08627-C08D-409E-B0E2-25D39C0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A8019-CBAD-40B2-8122-097BFAEC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19E29-E864-456C-A2EE-09206E57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E03D9-1EEF-4524-8D1A-88884603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94D75-31F9-44FB-A4B9-D488D1E6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预约状态机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F848C-1C00-4C1B-B22D-6A225A3A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预约流程会锁定车位，也会按规则释放车位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A3965-FB8A-4D40-B7B4-87A130A4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预约不再只是写入记录，而是与车位库存和订单状态联动。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40CEB-718B-47E7-A23D-5155E1A7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D55EF-BE7B-427E-BBCF-66AD96F8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预约状态机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5283D-1C53-464E-9CA0-00B5CB0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5D5AB-E67D-4F37-B220-8779BCC1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889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62971-CFB2-4218-8F7B-E319D420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52675"/>
            <a:ext cx="1661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60093-F6DA-4053-B537-2879F542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0325"/>
            <a:ext cx="16611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可用车位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18BE9-B9DE-4478-9B68-4EC0E6B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2238375"/>
            <a:ext cx="1889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7A66E-EBD9-442C-97E6-250BA226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360" y="2352675"/>
            <a:ext cx="1661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0A3D0-4F68-4454-B238-D08E7D91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360" y="2600325"/>
            <a:ext cx="16611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创建预约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D7798-2225-4989-8F43-E7A9439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238375"/>
            <a:ext cx="1889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09FEC-5799-4364-ABCB-6343472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2352675"/>
            <a:ext cx="1661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59A1E-EB4D-4CE3-8D5D-31B7C83F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2600325"/>
            <a:ext cx="16611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锁定 15 分钟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B725F-3528-4394-8B6A-8704B06F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5180" y="2238375"/>
            <a:ext cx="1889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85079-A569-4EB8-9128-EC3A00F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2675"/>
            <a:ext cx="1661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799EC-3042-4FAA-A460-41584E41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600325"/>
            <a:ext cx="16611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到场确认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DDB25-83E2-4DEF-8C1D-BF1F401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240" y="2238375"/>
            <a:ext cx="1889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14D6D-FE0D-4371-A6B4-686C5C4E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2352675"/>
            <a:ext cx="166116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B5A4B-D15C-420C-A4BB-9ED42C9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2600325"/>
            <a:ext cx="16611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创建订单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D806B-5E19-49D8-BED7-2BD192AC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286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B84E0-9A03-4B18-B535-6DBC54D6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28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E937F-E8E7-40F4-BEA1-23BFF232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取消规则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C006A-369F-47FD-9D9B-163729A8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未确认预约可以取消，取消后立即释放被锁定车位，避免库存被长期占用。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0F762-012B-4AB1-8F71-92837863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286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924FBB-6390-4DDA-8D6C-8C56353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28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80A1A-DA61-4F83-B183-4FE358E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过期规则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30D362-B191-48C1-B504-F3949B9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291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超过有效期的预约会进入释放逻辑，车位状态回到可用。</a:t>
            </a:r>
          </a:p>
        </p:txBody>
      </p:sp>
    </p:spTree>
    <p:extLst>
      <p:ext uri="{BB962C8B-B14F-4D97-AF65-F5344CB8AC3E}">
        <p14:creationId xmlns:p14="http://schemas.microsoft.com/office/powerpoint/2010/main" val="6207666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FAB7D-AA89-4FBD-8EAE-843797EC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5E6B7-B566-4A6E-874C-046CA345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2A38-5A79-4408-A1EA-D8A8DFFF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7A91A-D882-4BAF-991D-CBFF5C2E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DFE21-90DA-48BC-BA4A-03BBBC7F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车牌识别与计费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42AAD-2810-419C-BEC4-771F64E8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模拟入出场把设备事件转化为订单状态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98FCC-18C2-4D0E-A90A-46590CA8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没有真实摄像头也能演示车牌识别、计费和支付业务闭环。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958A4-4FEA-45C7-8ED5-8903FC79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062F3-4442-459A-89E0-0635516C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车牌识别与计费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8E3CC-A93B-4C3A-83CB-23E10D56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463AD-AD87-414D-90D8-E2059AF6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1908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C99B2-F97B-45A5-9DB3-1996214C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21E1E-DECD-4CF8-8494-49F35B96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模拟入场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CCE10-BBC3-4755-B169-0A17D9B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7717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选择系统内车场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输入或使用用户车牌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检查重复入场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创建 active 订单并占用车位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A2CBE-CB96-4D6D-8DD7-3506FA8C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3125"/>
            <a:ext cx="31908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49C29-7791-4C21-B175-15CABF93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31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71119-4D95-4F1F-8A62-14F91FB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5267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模拟出场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F4C56-4D18-4EB7-B40D-A71ACAD3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71775"/>
            <a:ext cx="27717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定位未完成订单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写入出场时间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按停车时长计算金额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订单进入待支付状态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2AE09-4886-4982-B384-98A47DBE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31908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F4540-BBDF-4FD7-BA69-B1713DC0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971E8-1234-443D-AC9C-419FAC30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5267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支付离场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FCAB5-76E5-4076-9530-EB647C5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71775"/>
            <a:ext cx="27717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支付成功后进入 paid 状态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释放占用车位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停车记录可在用户端查看</a:t>
            </a:r>
          </a:p>
        </p:txBody>
      </p:sp>
    </p:spTree>
    <p:extLst>
      <p:ext uri="{BB962C8B-B14F-4D97-AF65-F5344CB8AC3E}">
        <p14:creationId xmlns:p14="http://schemas.microsoft.com/office/powerpoint/2010/main" val="761702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D4B616-DD88-4ED3-BF1A-6494DA56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057B3-B811-4AB0-ABE6-00BE7BF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9D648-BEE9-4201-AE19-F85A9A5A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E2E0B-8E22-404E-8E04-8C324F9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6F65B-CDF5-4E2A-B013-4C72766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反向寻车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411C0-D3DC-436E-B8F6-2819160A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寻车功能已从入口补齐为可查询业务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12C60-5E30-4683-8B95-8195AD41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系统根据当前停车订单返回车场、车位和建议路线。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E56E2-CAC5-434B-A185-70AC9A0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454F2-C373-48B0-8C7C-B1AAB1A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反向寻车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D0A8E-75E1-49B5-AF5C-523CFE76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DF2D4-14C1-44DC-834E-8766EC0A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D0A49-6E0A-4AF8-B1F6-B2C3DF2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718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主动展示当前仍在场车辆，用户不用记住订单号。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11E66-DDEB-491F-94C9-D3712D1C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C5531-6DCB-40E3-B2C8-60EE18B1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718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支持按车牌号查询 active 停车订单和车位信息。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512B5-292B-4044-8600-9EC79E1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06A5A-765B-4BE1-B862-59AD4C2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718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返回车场名称、车位编号、区域说明和引导步骤。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E9ADB-5980-43F2-8129-F4325A11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C7C92-6882-488C-A5BD-553FDE39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718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与模拟入场订单联动，确保演示数据来源一致。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A1BD7-D1D1-49C3-BFA2-830055E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C4752-CC4F-453B-84B9-4C660891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050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6A34A"/>
                </a:solidFill>
              </a:defRPr>
            </a:pPr>
            <a:r>
              <a:rPr sz="3300" b="1">
                <a:solidFill>
                  <a:srgbClr val="16A34A"/>
                </a:solidFill>
              </a:rPr>
              <a:t>P 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CE08B-A4D4-4719-A3B2-23809577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575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当前停车位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18313-FB04-4EA1-B887-B9A0BBD3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62375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A1C10-3ED2-458A-ABB3-6D77CA4D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338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563EB"/>
                </a:solidFill>
              </a:defRPr>
            </a:pPr>
            <a:r>
              <a:rPr sz="3300" b="1">
                <a:solidFill>
                  <a:srgbClr val="2563EB"/>
                </a:solidFill>
              </a:rPr>
              <a:t>路线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36144-C3EC-4F2D-B6E9-5AC4E1AB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862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寻车步骤</a:t>
            </a:r>
          </a:p>
        </p:txBody>
      </p:sp>
    </p:spTree>
    <p:extLst>
      <p:ext uri="{BB962C8B-B14F-4D97-AF65-F5344CB8AC3E}">
        <p14:creationId xmlns:p14="http://schemas.microsoft.com/office/powerpoint/2010/main" val="9436818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7C02D-30D0-4E09-903F-AE089D2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BB506-D10F-46C9-A51F-3FDA02A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006F4-8C01-4A9C-BD11-1FA7E2D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216E6-D571-405C-84A5-B76342A2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55D50-942E-409A-97F3-EFFDC1F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我的停车资产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C6677-34C6-49E1-A9A0-F3DDFAE6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订单、停车记录和个人中心让车主流程更完整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B20C0-61C3-4252-B4FE-8B754271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车主不仅能停车，还能回看和管理自己的停车数据。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28E65-3981-4BB4-A72C-8097CE71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BD175-2263-4AED-8667-42D95C15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我的停车资产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FE437-9051-4F56-BC47-8A4E27B2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3E892-831D-4714-B865-74F82A0F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5C7E9-368A-4352-95AC-CF8068DB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05AAD-D902-4045-AA8B-1F6F2A9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52675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我的订单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70B5B-68EE-4BAA-A13A-02B7B0B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71775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查看当前订单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结算停车费用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支付并更新状态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6EA9E-40D3-40F5-9992-1D0E309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C409C-5E12-4183-9009-18ED94E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A370C-38D1-4989-AA4A-E4861834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52675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停车记录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B1ED5-0390-48DA-9A69-97E8F56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71775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展示历史停车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记录入场出场时间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关联金额和车场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8A054-E0F9-4655-BFFE-B133269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2EAB6-479F-4472-837D-23B8E9EF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5FEC2-8E30-4C6C-A41A-5250371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52675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个人中心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B73E9-2647-4D78-A91C-6D43B9B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71775"/>
            <a:ext cx="2628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维护手机号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管理多个车牌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车牌用于预约和寻车</a:t>
            </a:r>
          </a:p>
        </p:txBody>
      </p:sp>
    </p:spTree>
    <p:extLst>
      <p:ext uri="{BB962C8B-B14F-4D97-AF65-F5344CB8AC3E}">
        <p14:creationId xmlns:p14="http://schemas.microsoft.com/office/powerpoint/2010/main" val="7555649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78649-5AD6-46C4-9495-CA729E00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0049A-EE8C-4CDF-B709-2E340C4A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04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26783-6D48-4E1E-B34B-5CCB6CD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1E584-AE6E-4481-B795-0D7883A7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技术实现与数据状态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C847C-5AA6-4F53-9678-AADDADBA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AFE"/>
                </a:solidFill>
              </a:defRPr>
            </a:pPr>
            <a:r>
              <a:rPr sz="1800" b="0">
                <a:solidFill>
                  <a:srgbClr val="D8EAFE"/>
                </a:solidFill>
              </a:rPr>
              <a:t>说明系统为什么能跑通：架构、接口、表结构和状态规则共同支撑业务闭环。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A690E-4070-4295-A277-5A753E94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74329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7711E-B451-4001-9F4A-CA94798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C3035-E6FE-4632-B86C-DD4A380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A1A64-A57B-4065-9D77-73E2A83F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8B787-F4B3-4B2B-8C79-2A0FC31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DBAC1-C727-48EA-A499-4A2D84B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系统架构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5904C-4A3A-4A34-8BE8-665E1DE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前端地图交互通过 API 驱动后端状态流转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9C5B3-7488-4E50-83CC-507F7574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Vue 负责体验和地图，FastAPI 负责业务规则，SQLite 保存演示数据。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FCD7D-487D-454D-BC3F-7EC00E84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F35EF-991D-48D6-B77D-9CAECBF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系统架构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4D9B5-9264-4066-A9F7-1E56859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77E95-3738-4C98-962E-668B81FC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CB224-1F81-4666-8870-AA90A9BB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用户界面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63F4D-6485-494D-8E22-36346DD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Vue3 + Element Plus</a:t>
            </a:r>
          </a:p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Home · Orders · FindCar ·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61179-AB73-42BF-9E94-12879C1D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</a:defRPr>
            </a:pPr>
            <a:r>
              <a:rPr sz="25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B230B-1B70-4DCF-83E3-6EE1BD20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38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D82A2-B489-490B-A825-C51BA2AC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地图服务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5EB9B-284B-4BC1-A30C-A0C7DEE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高德 JS API</a:t>
            </a:r>
          </a:p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目的地 · POI · 导航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B7DB9-399D-42D0-AC2E-60671EF0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</a:defRPr>
            </a:pPr>
            <a:r>
              <a:rPr sz="25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29539-4665-4E11-9055-8090049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38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CBC2C-3C48-47B6-9C89-2A3631A1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业务服务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AE4E8-86B7-4995-86C3-CAD2718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4800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FastAPI Routers</a:t>
            </a:r>
          </a:p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auth · lots · reservations · orders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252C9-2D5C-40E7-97E9-915A00A9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</a:defRPr>
            </a:pPr>
            <a:r>
              <a:rPr sz="25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372C30-C398-42E9-A14F-FDC17922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3837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35816-DC70-41FC-8B76-EFE1DAF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95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B6D4"/>
                </a:solidFill>
              </a:defRPr>
            </a:pPr>
            <a:r>
              <a:rPr sz="1875" b="1">
                <a:solidFill>
                  <a:srgbClr val="06B6D4"/>
                </a:solidFill>
              </a:rPr>
              <a:t>数据持久化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8D542-2417-4A77-AEE6-B4FC831E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04800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SQLAlchemy + SQLite</a:t>
            </a:r>
          </a:p>
          <a:p xmlns:a="http://schemas.openxmlformats.org/drawingml/2006/main">
            <a:pPr algn="ctr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用户 · 车场 · 预约 · 订单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75B09-965F-4FD5-BBA6-515B02C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关键设计：高德 POI 负责真实地图点位，系统内车场负责可预约、可计费、可统计的业务状态。</a:t>
            </a:r>
          </a:p>
        </p:txBody>
      </p:sp>
    </p:spTree>
    <p:extLst>
      <p:ext uri="{BB962C8B-B14F-4D97-AF65-F5344CB8AC3E}">
        <p14:creationId xmlns:p14="http://schemas.microsoft.com/office/powerpoint/2010/main" val="19001498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AB1652-441A-41F2-9ECD-C721713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A47EC-49D5-479F-8E83-B239742B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BFED0-F1B5-4C93-BD09-BFA5E782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6081E-66A0-4FFB-997E-B40121C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E610-827F-4FB3-87A8-FEC4155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核心数据模型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0B286-ECF9-4DC0-A578-0845BF9B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停车闭环由用户、车场、车位、预约和订单共同维护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10ADB-6B47-4E53-BCD5-2152703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这些实体对应后端模型和接口，是演示数据一致性的基础。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CCC59-DD32-4AE7-8337-6D3A6C1D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01F5C-2381-40AA-B724-9FAFF7D0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核心数据模型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04E2A-9EAF-4BD4-A320-D644140A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78004-6C02-4613-A676-D9F8FB43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990BE-F4C3-40C8-9FEA-DD083E83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实体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36F21-6B24-4D8C-AC82-463BC1A4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75D17-0E5A-4B00-9197-0A8E6F0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47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关键字段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EF3E-DC55-4E3C-9F2D-08BC30B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B29CC-6DF3-4E0F-BC60-15255AE5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47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业务作用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277FB-1364-4FAD-81F1-9F704334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26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273B0-A3DD-4C80-931D-99779E7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联动关系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48D3E-6666-48B2-918C-1476ABBB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B4657-9636-4005-B6B5-77DC2BB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User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7C508-3250-45F1-8310-42FC4CDE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669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85CB4-3936-44CD-B4ED-2877250A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622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username、role、plate_numbers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46827-3D57-4675-8033-9D43DCC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669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0E580-508B-4A83-88D2-F06EF0FB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622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区分普通用户和管理员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127C7-FAB7-449D-8EE4-05E1A85D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669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54833-ECFE-45D4-BF73-5C1E6222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622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预约、订单归属用户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118F3-A8C4-4430-AC66-5F12FB4C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08AE89-D13E-4A04-8DE5-3F9D8A3F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ParkingLot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9BE86-4331-481C-9C4C-9196470A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813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4BBAF-779A-471E-AF13-14D24AE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76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name、lat/lng、available_spots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B71327-57CA-44AD-8265-439A505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813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9F2767-D259-47DA-A790-11CC5E44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76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车场展示、排序和推荐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0186C3-CB6A-4A09-80CF-DCFD4C8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813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3A00C9-2DDB-4DC4-A564-4AC810E5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765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包含多个车位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98D8FD-F082-44E9-868A-DB83366B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8C7549-7706-4D65-AA11-F2F4B5DE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ParkingSpot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26D298-12F2-4FDF-92E0-5CF9C48A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956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0340D9-C521-4C87-8A4E-3563E04D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909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spot_number、status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109E41-639D-4E1C-9741-8D52D5A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956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F43C12-094E-4CF6-94EA-77D8586A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909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记录具体车位状态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6DBDC7-0B49-4C2E-B543-04A2D6F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27E499-7ED9-4684-87AA-FFCB428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909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预约和订单可关联车位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98040D-CE03-4A4A-AC9D-F0BED59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65A746-95A2-4285-B1CD-7E656D47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Reservation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6399C3-D800-45BF-99A9-91DC8982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00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D404BA-82DD-4748-8EB8-7398E0C9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052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status、expires_at、confirmed_at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43C255-67D9-4E29-8708-CE7A140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100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976E58-4238-43A3-A31D-FA5FDF30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052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锁定车位和确认到场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B6053E-9799-4D38-B748-C5FBE585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002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EBF2EB-4DAC-4592-8C92-F4807C3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052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确认后进入订单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45551E-0024-4025-8EEA-EDD52EB2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388667-AC5B-4D60-98CD-F8E331D0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ParkingOrder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69D64C-F4A6-4A7A-89F8-CA0BFA28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243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3FF3B6-E29D-48A7-86A2-64F071F6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19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entry_time、exit_time、amount、status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545BAE-53AB-4516-BDA2-23759BC1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243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C67D0C-C731-4742-B606-B0A6FEE7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19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入出场、计费、支付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095139-2177-4C7B-B643-B67F1DC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24375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DCF2C0-BF49-49D4-84EB-67106668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19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支付后形成停车记录</a:t>
            </a:r>
          </a:p>
        </p:txBody>
      </p:sp>
    </p:spTree>
    <p:extLst>
      <p:ext uri="{BB962C8B-B14F-4D97-AF65-F5344CB8AC3E}">
        <p14:creationId xmlns:p14="http://schemas.microsoft.com/office/powerpoint/2010/main" val="14820852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FBC8D-AF91-4EF2-A95F-96275D5A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849C1-6DD6-4378-8D1D-13B2AFB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85021-5794-4A0A-A821-6810E24C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28522-B39D-47A6-A6E9-B6486111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9A11D-848B-4309-8EB7-E93087AA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后端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3077F-8DD1-45DC-8FAD-45B6A7C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FastAPI 按业务边界组织路由，接口清晰可验收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0600C-D208-49B3-A1D3-85AC9D4A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打开 /docs 可以直接查看所有接口。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FC1C3-1D4C-4FEB-8879-B84D9ADC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6E655-18E6-40BA-8D76-B89D3249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后端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58F63-22C4-421E-8CE8-4F435959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64EA1-56B9-4236-9C4E-A64FC69B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0E553-85F5-4042-910A-2D88DCF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路由模块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59E40-E5BE-4D6E-8B13-12AD3928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174C1-2FA9-434D-B9C8-51DA05F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5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主要接口能力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6A1D5-8AA4-4D3B-AB6F-77EE80D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37854-0964-48D8-AFF6-BEBBB099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验收时可说明的价值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063E5-020D-43DD-99DE-E5FB5244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7C8A9-D2A7-4899-A622-C5FC8B24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1C82C-6C71-4A25-B517-EA1913C2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B3038-EB19-471F-943B-972137D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717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注册、登录、当前用户、资料修改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CC2EC-4306-4418-9B7F-1A46F68B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1794C-9026-4753-BCBA-C9AE93C9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提供 JWT 权限基础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2F9FF-AC53-4E94-B966-E97D5E35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FEFF8-3C98-41E3-98ED-357CF126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9B96CE-2C5F-424C-9044-330BC2B2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527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C4630-4378-4975-9DE5-F72079E6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车场列表、详情、排序、附近车场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74783-4054-4ACF-A1D1-86344750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20255-6E0D-490B-911B-FEB61AB0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支撑地图和列表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65741-E4C0-46BB-8D23-AE730393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FA54E6-678C-4F10-8B27-2C42EB41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reservations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474FA9-85BA-4CE4-9AE7-50070F89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290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D5768-099D-4F4C-AEB1-DDB08697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创建、确认、取消、过期释放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3FFA1-C6A8-4332-8241-CA803456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8BCB18-21B1-429F-81C0-696DFB83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支撑预约状态机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ACEA7-AB10-4D74-B1E4-623BDCE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E05C59-82E2-4F31-9DC4-74012E9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orders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59C8FE-11C5-44BF-A29F-144A3FC9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052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919186-B58D-44F4-BD29-4ABCC196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00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入出场、支付、记录、寻车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F6281-31EE-4CF2-A5F1-D714A718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DCCDF3-64A4-44F5-BF9B-F021EE3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支撑停车闭环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DDFC7D-D465-4A2C-9B58-C028E057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2A9A4A-E11E-4C0D-9AF6-4000099F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spots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D9050A-932D-4546-AC4A-828F41A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815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600017-9266-4474-BD00-8F804737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767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车位详情、车位状态维护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474586-1CCC-4A58-8043-9EF1599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F41D2E-95E7-4F73-84D8-E3B68A26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支撑寻车和后台释放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E2BF37-A94C-4250-A0C2-68F477F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B45176-65CB-44FE-96D7-72950154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admin / analytics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6ED1C7-7025-44B8-9BFA-FAF16593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90EB9B-ABAA-4645-AD62-F24816B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看板、订单、收入、饱和度、周转率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5DC206-7723-4EC4-B905-57946570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7748E3-273D-45C0-8CD4-94AB4E53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支撑运营管理</a:t>
            </a:r>
          </a:p>
        </p:txBody>
      </p:sp>
    </p:spTree>
    <p:extLst>
      <p:ext uri="{BB962C8B-B14F-4D97-AF65-F5344CB8AC3E}">
        <p14:creationId xmlns:p14="http://schemas.microsoft.com/office/powerpoint/2010/main" val="19331580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46689-729B-4A0F-BD10-8A1240AB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D0AF1-99A2-4376-A908-1857192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8B40C-4FA4-483F-A593-01025865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0B246-E72C-433D-82B7-48A880EB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5DC69-82DC-4056-909A-AA4EF16A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前端页面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428C0-1367-41C4-B028-A2F0DE94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页面按车主流程和后台流程分组，入口更符合演示顺序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2CFB2-CA9C-4D77-8E89-8C346171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顶部功能区、地图主体、浮窗模拟和右侧推荐列表共同服务首页。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AFCCC-CB1D-4AA7-8B42-8419824E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031FA-3C44-407B-BEC2-0F50B20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前端页面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9B91A-03C9-412D-883A-AF36E20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ABB1A-12A5-427A-BCD9-2C6BBE5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D0E24-98DF-4F07-BD1F-57657995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EA849-DD21-4170-876A-57ABB45A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267A0-7E9F-44FD-99D0-1876DB2A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47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5F57C-3D87-4B22-B8BD-0DC37D65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DCFD7-D08A-47F9-B601-25B3514F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演示关注点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E5DCE-A0B4-4ADE-88CB-8200060C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9689F-BEDF-40D7-BA01-5A1BCCBB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Login / Register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BC826-FF5F-4EC4-9CB7-8DD85317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2887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7457F-EA59-43D5-9D1C-08C25FE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登录注册、演示账号入口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9510B-F5C2-44A2-96F2-D18F219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28875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5E309-8D86-41C5-BE65-69C2D440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241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解决没有登录入口的问题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B6366-0DD6-45C8-B7ED-A1C85221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64427-3EC3-4876-9033-8EC1DF26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Home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87590-1E9D-4B74-95EB-8770AA7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0512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6212E-C5CD-425C-9FA2-74DCEACF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0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地图、搜索、排序、推荐、模拟入出场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A847D-046B-434E-8968-3FA8646F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05125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2FA642-497E-4CF9-9AB2-9135599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系统主入口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CB21C-98D5-405D-89B9-6DD7CC88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9BFFD1-1DEE-4DFF-B7F8-DFA43AF1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LotDetail / Reservations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653DC-18C7-4A5E-AA7E-C29D0AA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8137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BBE7FB-6BF9-454F-A50B-0C9BC5F4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76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车场详情、预约、确认、取消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215B6-49F5-4954-838E-5A3B9F1B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81375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258D78-9656-4519-A2CD-012220E3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66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预约闭环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25CD46-5176-4ED7-9030-A67592EE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964576-2B73-4C53-93D3-624777DE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Orders / Records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75147A-BF82-43BB-A0FC-E40F34C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5762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E294CE-91FC-4610-9AAF-75C17564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528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订单结算、支付、停车历史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841FB5-8594-47BF-98A2-8DEF3F02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57625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92151E-7BAA-4785-A55A-8291A8A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528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支付和记录闭环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4B0D87-832F-43BA-A881-F43504C7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FD540F-B58E-42BC-80DA-989EA757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FindCar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6F1E3-729C-4053-BCD1-28771F99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3387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0171B4-B0B8-43F0-855F-F4FEB12E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29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查询当前车辆和路线步骤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60C260-6891-4050-BE01-F82A7BD9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33875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822EC5-7DF3-45ED-8FC0-C16113B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291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反向寻车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3AC6F7-4F39-4BF9-B9B8-8E67CAD4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0E605D-DE09-4486-AE28-9CB784D6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Admin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022FA2-B619-45DA-8231-37DCB333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1012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920FCA-FDA5-431F-B905-C2C81CC2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05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车场、订单、统计和车位释放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CC1D20-5F03-4371-B1A5-EC92813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10125"/>
            <a:ext cx="4333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94100C-0DC7-46CC-93DD-331DAB0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053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1220"/>
                </a:solidFill>
              </a:defRPr>
            </a:pPr>
            <a:r>
              <a:rPr sz="1050" b="0">
                <a:solidFill>
                  <a:srgbClr val="0B1220"/>
                </a:solidFill>
              </a:rPr>
              <a:t>管理端验收</a:t>
            </a:r>
          </a:p>
        </p:txBody>
      </p:sp>
    </p:spTree>
    <p:extLst>
      <p:ext uri="{BB962C8B-B14F-4D97-AF65-F5344CB8AC3E}">
        <p14:creationId xmlns:p14="http://schemas.microsoft.com/office/powerpoint/2010/main" val="10010719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EFF8E-985C-4DD6-956B-D2C69E24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F0743-19F0-4E6C-9FF5-0C426FBC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BE66E-044F-4E91-B437-1AA01BE5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AB976-A831-49E4-994F-89E1A3B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47E8E-CEDA-4575-97F7-F759509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数据一致性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89713-6096-4369-8D96-A1BB8B38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状态保护让演示流程不会出现空位和订单错乱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06CA7-792F-4098-8181-F5CAFBE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V3 针对易错点做了收口处理。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B18BF-3FF2-48D3-9A47-36A518F8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0305C-0996-42D2-AFEC-58B24AA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数据一致性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FEA49-D565-487F-BDFC-CD2D4672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712B1-D72F-4089-8AD6-00DFAEE6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2861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21693-B9C5-4AA2-8EEA-593AF9E8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A1327-7A3B-4F0B-9753-610D83CC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预约一致性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3F20F-2C47-45A5-B51C-291510AD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86702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预约创建后减少空位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确认后生成订单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取消和过期会释放车位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E46CA-9BED-4999-9104-05B7C3E9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61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2DE7E-75D7-4B36-BE64-42E14172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38757-71A2-4C2B-9F8F-F14509F1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订单一致性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8303E-8874-42AF-86A7-25D9D7E2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286702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重复入场会被拦截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出场后计算金额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支付后释放车位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2E861-43FD-43DF-9798-8C59D510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2861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2627C-C76D-4E3B-8C40-AC944CE2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A103C-6134-432E-8B87-7A727C04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后台一致性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42FC4-18B1-463C-B8B5-E9352E81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86702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释放空闲车位不会重复增加库存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统计口径转为百分比展示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后台操作与前台数据联动</a:t>
            </a:r>
          </a:p>
        </p:txBody>
      </p:sp>
    </p:spTree>
    <p:extLst>
      <p:ext uri="{BB962C8B-B14F-4D97-AF65-F5344CB8AC3E}">
        <p14:creationId xmlns:p14="http://schemas.microsoft.com/office/powerpoint/2010/main" val="1667439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8028E-9814-4342-A0CE-7676F32A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FBCA2-D2A7-470D-A5A1-73C4095A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FAD10-FA8C-4DBE-A4BC-2A2BB1FE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D6F8E-DCE2-453A-BA8B-9CBF0EE7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7807E-12B0-4B3C-9BC8-6748B75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验证结果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D02A6-035D-4383-AF61-1B7A3F2C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最终版本已经完成构建、语法和业务流程验证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F61A2-8793-40B8-985C-AA2C2B5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这些检查用于支撑“验收达标”的结论。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49565-2703-4A5C-910B-7414AA28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667BC-AB8A-498D-BF78-858115E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验证结果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8026A-AACD-4EDB-AC9F-9B419AFB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1DBF2-213F-4619-9D9B-35AA96E6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286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F3E9F-D2A9-43BF-A97E-BB793375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B8506-7866-4665-8F5E-97EC91D2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前端构建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23F96-504B-4936-A903-D0F61E21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867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npm.cmd run build 通过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Vite 仅提示常规大包 warning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页面资源可打包发布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D1A71-309F-4A7A-81DD-D6427E7B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3286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8DD37-9DF8-4D3E-8C33-A9A550C1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E7217-55C7-423C-B33C-2E8F7DD8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后端检查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23F43-585D-40FF-8D56-FFD2A89D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2867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Python compileall 通过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main.py 路由可导入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启动后自动 seed 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D145A-AE68-4224-8A50-3F029E40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286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7A23D-EBAD-4B32-8856-E31A4B25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EF092-CEF4-463A-95FC-DDF6505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端到端流程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C33D1-B262-4629-8D8C-3C5179A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2867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登录 → 预约 → 确认 → 入场 → 寻车 → 出场 → 支付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核心状态可连续流转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D0F26-F55B-44BC-A204-C12FFFA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结论：系统已经从 V1 的基本 MVP 迭代为 V3 最终演示版。</a:t>
            </a:r>
          </a:p>
        </p:txBody>
      </p:sp>
    </p:spTree>
    <p:extLst>
      <p:ext uri="{BB962C8B-B14F-4D97-AF65-F5344CB8AC3E}">
        <p14:creationId xmlns:p14="http://schemas.microsoft.com/office/powerpoint/2010/main" val="1285377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E04E0F-653B-4014-BD44-09922869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16040-B34C-4CA6-AC3E-F4F3D44C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04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157CC-583B-4F1E-9A31-6FBFF22B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B13CE-81E8-406B-83D8-B0688DA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现场演示与提交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4C587-B59C-4B12-B8A4-4A20B1B0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AFE"/>
                </a:solidFill>
              </a:defRPr>
            </a:pPr>
            <a:r>
              <a:rPr sz="1800" b="0">
                <a:solidFill>
                  <a:srgbClr val="D8EAFE"/>
                </a:solidFill>
              </a:rPr>
              <a:t>最后用一条演示脚本串联功能，并说明 GitHub 交付方式。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94B2B-BE6C-42EA-ACA4-1156E74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396300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64531-0C8E-4EFD-BCD3-A64AC4A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93664-7CD6-434F-9516-50044EDB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17474-024D-42A1-80D7-BC259BA5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73628-F6F4-40A4-A818-1F5C805C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2658F-731C-4EC2-92ED-2C80EF15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演示脚本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47CB4-F911-42D2-9410-0252140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建议按一条车主旅程讲解，再切到管理员后台收尾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2FC94-CED7-4E7D-9302-0D838A61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这条路线覆盖最核心的验收点。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3F947-6CF9-441E-BEBE-2DE702A5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263EF-5D89-4AC6-ACA3-0CD8756D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演示脚本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7784A-81B5-4401-BF4B-07A2C56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61DA0-5BFB-48DD-928C-1E80A57E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DFB7E-987E-4447-AFFC-6BB3B27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36147-D701-46E5-8242-AD18292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登录 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D65BA-678E-47FA-9D55-FCE880C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95500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E5AA6-3D83-4446-9955-73B250C0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09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8ABDA-E590-4168-B38D-6428D58E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搜目的地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40850-A8D1-4D69-BD15-5C74A99F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95500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FC7FD-4DE0-4A88-950A-1739605F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9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4805B-3C1B-4FD0-B3B8-937A764A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看推荐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60279-56B4-4F13-8515-46055129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95500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05770-0571-4346-958E-DFE8DE21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09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C219F-E9C6-426E-BA6F-F44E073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57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预约车位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F9388-F41B-4CAE-9402-590007EF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CA659-DCB8-4954-8AF9-8C22FA4A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07111-E835-4543-96E9-719E64D4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模拟入场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B9A81-F99C-494F-B9FC-BABC01A4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95454-4441-4B9B-9949-76AFBDE5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9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A294EB-1B1A-4922-9AD4-BF96E48A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反向寻车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CB52AE-4EAD-4930-AED0-62A981A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4668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8E9427-A4F7-4BE4-990F-737CEFEB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9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977602-648D-460C-9A37-9B9C4753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57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出场支付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D8A5E6-050E-4BA3-ADB1-79C9517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FC6DD2-013A-44FB-88A5-8E68C387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57625"/>
            <a:ext cx="946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第一段讲车主体验：地图搜索、评分推荐、预约、订单、寻车。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E1A41-ED98-49FD-B97C-F972318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2DBF44-9F6E-414D-AA29-2F81BF36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71975"/>
            <a:ext cx="946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第二段讲设备模拟：用车牌入场和出场触发订单状态变化。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FA5727-F21B-4EFD-949C-526B0EE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6A9CD3-6175-4432-833E-6975DA66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86325"/>
            <a:ext cx="946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</a:defRPr>
            </a:pPr>
            <a:r>
              <a:rPr sz="1725" b="0">
                <a:solidFill>
                  <a:srgbClr val="0B1220"/>
                </a:solidFill>
              </a:rPr>
              <a:t>第三段讲后台验收：管理员查看车场概览、订单和运营统计。</a:t>
            </a:r>
          </a:p>
        </p:txBody>
      </p:sp>
    </p:spTree>
    <p:extLst>
      <p:ext uri="{BB962C8B-B14F-4D97-AF65-F5344CB8AC3E}">
        <p14:creationId xmlns:p14="http://schemas.microsoft.com/office/powerpoint/2010/main" val="6318143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2F2308-D836-421D-B196-E48EA9D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33577-AD54-4B43-B30B-E9971AD4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20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833FA-8EAD-4F3C-9FB8-637DD5BE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4300"/>
            <a:ext cx="26822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57B4B-50F5-4FA8-8712-66536DC9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14300"/>
            <a:ext cx="21945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81F1-5008-423B-8661-B3FCAA2D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GitHub 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C6086-80AF-4115-8AF9-36785967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README 已补齐启动命令、账号和验收说明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B6D80-DBAD-4504-8097-837C8A8C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提交时建议只纳入项目代码、README、PPT 和必要配置。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C3483-5B6F-41F3-9E02-14F73B7F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58708-7F8C-42B9-912D-0A52E575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GitHub 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C34A3-29C1-4694-A6F8-E398536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E2FFC-8E2C-45D3-9379-F383B87E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AD852-DE69-4A82-A3D0-8EA40A5F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8407C-C83F-4539-9DC8-9D787FF9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推荐提交命令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036BB-7362-49C0-9745-7858C91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4533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git add .gitignore README.md smart-park-v1.0 outputs/SmartPark_V3_验收演示.pptx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git commit -m "feat: complete SmartPark V3 final version"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git push origin 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3D84F-7C68-46AE-8136-F10DF023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28736-8DCB-4FE2-B390-2FE0DA55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3296E-9149-4CBC-B5C2-22180622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提交注意事项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821D3-8274-4302-9D31-B27EEEC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4533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不要直接 git add outputs。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outputs 下还有历史 PPT、检查文件和临时目录。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如不想上传 PPT，可以只提交 README 和代码。</a:t>
            </a:r>
          </a:p>
        </p:txBody>
      </p:sp>
    </p:spTree>
    <p:extLst>
      <p:ext uri="{BB962C8B-B14F-4D97-AF65-F5344CB8AC3E}">
        <p14:creationId xmlns:p14="http://schemas.microsoft.com/office/powerpoint/2010/main" val="17821832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66179F-13EF-4B44-A010-0BA5DF9E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D96EB-3696-4AA2-A8A3-2E4CF2A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"/>
            <a:ext cx="5486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F6805-4620-4995-A7A4-6288B5B4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</a:defRPr>
            </a:pPr>
            <a:r>
              <a:rPr sz="1350" b="1">
                <a:solidFill>
                  <a:srgbClr val="06B6D4"/>
                </a:solidFill>
              </a:rPr>
              <a:t>验收结论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4F1BC-C2F4-4984-AD9A-FFEDB10D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SmartPark V3 已达到最终演示交付标准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CCB1-35C0-43B4-8BCB-0A2570B8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EAFE"/>
                </a:solidFill>
              </a:defRPr>
            </a:pPr>
            <a:r>
              <a:rPr sz="1950" b="0">
                <a:solidFill>
                  <a:srgbClr val="D8EAFE"/>
                </a:solidFill>
              </a:rPr>
              <a:t>系统形成了可运行、可演示、可提交的智慧停车核心闭环。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80587-25A6-44AB-ADF9-168C068A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0EB9E-A164-4F89-A1FA-ABC1D70B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6A34A"/>
                </a:solidFill>
              </a:defRPr>
            </a:pPr>
            <a:r>
              <a:rPr sz="3300" b="1">
                <a:solidFill>
                  <a:srgbClr val="16A34A"/>
                </a:solidFill>
              </a:rPr>
              <a:t>可运行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200EA-0D45-4863-B220-3FC1831C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81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前后端启动完整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40A07-9124-4DB1-A4EE-6ED3FEDA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8836F-B918-4BB3-8353-72DDFD77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290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6B6D4"/>
                </a:solidFill>
              </a:defRPr>
            </a:pPr>
            <a:r>
              <a:rPr sz="3300" b="1">
                <a:solidFill>
                  <a:srgbClr val="06B6D4"/>
                </a:solidFill>
              </a:rPr>
              <a:t>可演示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22DF4-446C-491A-AB74-AF14BFEA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81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主流程一条线讲清楚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B7086-A15F-4FD5-AB33-D1D25A3B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AC060-7A57-4413-A7BC-4B5CC33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290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97316"/>
                </a:solidFill>
              </a:defRPr>
            </a:pPr>
            <a:r>
              <a:rPr sz="3300" b="1">
                <a:solidFill>
                  <a:srgbClr val="F97316"/>
                </a:solidFill>
              </a:rPr>
              <a:t>可扩展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5A3A0-7B31-4CB0-AC25-4CCF1279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815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地图、接口、后台边界清晰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8D1E5-3BD7-4635-99B5-908D03E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后续可继续接入真实摄像头、支付网关、城市级停车热力分析和动态定价策略。</a:t>
            </a:r>
          </a:p>
        </p:txBody>
      </p:sp>
    </p:spTree>
    <p:extLst>
      <p:ext uri="{BB962C8B-B14F-4D97-AF65-F5344CB8AC3E}">
        <p14:creationId xmlns:p14="http://schemas.microsoft.com/office/powerpoint/2010/main" val="915801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2026-07-08T09:17:46.6070000Z</dcterms:created>
  <dcterms:modified xsi:type="dcterms:W3CDTF">2026-07-08T09:17:46.6070000Z</dcterms:modified>
</coreProperties>
</file>