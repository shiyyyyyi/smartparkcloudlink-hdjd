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f76f4420ff49bb" /><Relationship Type="http://schemas.openxmlformats.org/officeDocument/2006/relationships/extended-properties" Target="/docProps/app.xml" Id="Re3237e3cf89a4b8f" /><Relationship Type="http://schemas.openxmlformats.org/officeDocument/2006/relationships/officeDocument" Target="/ppt/presentation.xml" Id="R962de012cec5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9ebcaa646f4ca9"/>
    <p:sldMasterId xmlns:r="http://schemas.openxmlformats.org/officeDocument/2006/relationships" id="2147483660" r:id="R32c7e81f82be479a"/>
  </p:sldMasterIdLst>
  <p:notesMasterIdLst>
    <p:notesMasterId xmlns:r="http://schemas.openxmlformats.org/officeDocument/2006/relationships" r:id="Rd0a2944afe644d3d"/>
  </p:notesMasterIdLst>
  <p:sldIdLst>
    <p:sldId xmlns:r="http://schemas.openxmlformats.org/officeDocument/2006/relationships" id="256" r:id="R1f4afe4decea485b"/>
    <p:sldId xmlns:r="http://schemas.openxmlformats.org/officeDocument/2006/relationships" id="257" r:id="R69668231cd3e4287"/>
    <p:sldId xmlns:r="http://schemas.openxmlformats.org/officeDocument/2006/relationships" id="258" r:id="R43a4d5d2e66a469b"/>
    <p:sldId xmlns:r="http://schemas.openxmlformats.org/officeDocument/2006/relationships" id="259" r:id="R15a05b5b52da477b"/>
    <p:sldId xmlns:r="http://schemas.openxmlformats.org/officeDocument/2006/relationships" id="260" r:id="R1f3b1cf1a119457f"/>
    <p:sldId xmlns:r="http://schemas.openxmlformats.org/officeDocument/2006/relationships" id="261" r:id="R27c5584dba0442bc"/>
    <p:sldId xmlns:r="http://schemas.openxmlformats.org/officeDocument/2006/relationships" id="262" r:id="Rb68ee571240341de"/>
    <p:sldId xmlns:r="http://schemas.openxmlformats.org/officeDocument/2006/relationships" id="263" r:id="R849ecf0446774a01"/>
    <p:sldId xmlns:r="http://schemas.openxmlformats.org/officeDocument/2006/relationships" id="264" r:id="Rb7257c6a41f14203"/>
    <p:sldId xmlns:r="http://schemas.openxmlformats.org/officeDocument/2006/relationships" id="265" r:id="R8c9680d44e394992"/>
    <p:sldId xmlns:r="http://schemas.openxmlformats.org/officeDocument/2006/relationships" id="266" r:id="R7bd92bfcbc67479f"/>
    <p:sldId xmlns:r="http://schemas.openxmlformats.org/officeDocument/2006/relationships" id="267" r:id="Rd18313359e0a4c4a"/>
    <p:sldId xmlns:r="http://schemas.openxmlformats.org/officeDocument/2006/relationships" id="268" r:id="R1b686e84c6434b4c"/>
    <p:sldId xmlns:r="http://schemas.openxmlformats.org/officeDocument/2006/relationships" id="269" r:id="Rdc115fc2b5d14d5a"/>
    <p:sldId xmlns:r="http://schemas.openxmlformats.org/officeDocument/2006/relationships" id="270" r:id="R2d0f60a2db9e4e39"/>
    <p:sldId xmlns:r="http://schemas.openxmlformats.org/officeDocument/2006/relationships" id="271" r:id="R99da31bf721d45d1"/>
    <p:sldId xmlns:r="http://schemas.openxmlformats.org/officeDocument/2006/relationships" id="272" r:id="R6acce560c2c34aeb"/>
    <p:sldId xmlns:r="http://schemas.openxmlformats.org/officeDocument/2006/relationships" id="273" r:id="Ra11a806f5ccd41c2"/>
    <p:sldId xmlns:r="http://schemas.openxmlformats.org/officeDocument/2006/relationships" id="274" r:id="Rce60e0e0d68b4783"/>
    <p:sldId xmlns:r="http://schemas.openxmlformats.org/officeDocument/2006/relationships" id="275" r:id="R197dc2d769fb403c"/>
    <p:sldId xmlns:r="http://schemas.openxmlformats.org/officeDocument/2006/relationships" id="276" r:id="R40f8e163060a4049"/>
    <p:sldId xmlns:r="http://schemas.openxmlformats.org/officeDocument/2006/relationships" id="277" r:id="R77ab41ad74dd4800"/>
    <p:sldId xmlns:r="http://schemas.openxmlformats.org/officeDocument/2006/relationships" id="278" r:id="Rc2310fcc2071477c"/>
    <p:sldId xmlns:r="http://schemas.openxmlformats.org/officeDocument/2006/relationships" id="279" r:id="R3a150afcf26d41ac"/>
    <p:sldId xmlns:r="http://schemas.openxmlformats.org/officeDocument/2006/relationships" id="280" r:id="Rf77d3d97e7904f06"/>
    <p:sldId xmlns:r="http://schemas.openxmlformats.org/officeDocument/2006/relationships" id="281" r:id="R21422085bcaa4e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aa61d81b14864" /><Relationship Type="http://schemas.openxmlformats.org/officeDocument/2006/relationships/slideMaster" Target="/ppt/slideMasters/slideMaster1.xml" Id="Rbc9ebcaa646f4ca9" /><Relationship Type="http://schemas.openxmlformats.org/officeDocument/2006/relationships/slideMaster" Target="/ppt/slideMasters/slideMaster2.xml" Id="R32c7e81f82be479a" /><Relationship Type="http://schemas.openxmlformats.org/officeDocument/2006/relationships/notesMaster" Target="/ppt/notesMasters/notesMaster1.xml" Id="Rd0a2944afe644d3d" /><Relationship Type="http://schemas.openxmlformats.org/officeDocument/2006/relationships/presProps" Target="/ppt/presProps.xml" Id="Rc9ec07abb51a4163" /><Relationship Type="http://schemas.openxmlformats.org/officeDocument/2006/relationships/tableStyles" Target="/ppt/tableStyles.xml" Id="R11f305da21ae4893" /><Relationship Type="http://schemas.openxmlformats.org/officeDocument/2006/relationships/slide" Target="/ppt/slides/slide1.xml" Id="R1f4afe4decea485b" /><Relationship Type="http://schemas.openxmlformats.org/officeDocument/2006/relationships/slide" Target="/ppt/slides/slide2.xml" Id="R69668231cd3e4287" /><Relationship Type="http://schemas.openxmlformats.org/officeDocument/2006/relationships/slide" Target="/ppt/slides/slide3.xml" Id="R43a4d5d2e66a469b" /><Relationship Type="http://schemas.openxmlformats.org/officeDocument/2006/relationships/slide" Target="/ppt/slides/slide4.xml" Id="R15a05b5b52da477b" /><Relationship Type="http://schemas.openxmlformats.org/officeDocument/2006/relationships/slide" Target="/ppt/slides/slide5.xml" Id="R1f3b1cf1a119457f" /><Relationship Type="http://schemas.openxmlformats.org/officeDocument/2006/relationships/slide" Target="/ppt/slides/slide6.xml" Id="R27c5584dba0442bc" /><Relationship Type="http://schemas.openxmlformats.org/officeDocument/2006/relationships/slide" Target="/ppt/slides/slide7.xml" Id="Rb68ee571240341de" /><Relationship Type="http://schemas.openxmlformats.org/officeDocument/2006/relationships/slide" Target="/ppt/slides/slide8.xml" Id="R849ecf0446774a01" /><Relationship Type="http://schemas.openxmlformats.org/officeDocument/2006/relationships/slide" Target="/ppt/slides/slide9.xml" Id="Rb7257c6a41f14203" /><Relationship Type="http://schemas.openxmlformats.org/officeDocument/2006/relationships/slide" Target="/ppt/slides/slide10.xml" Id="R8c9680d44e394992" /><Relationship Type="http://schemas.openxmlformats.org/officeDocument/2006/relationships/slide" Target="/ppt/slides/slide11.xml" Id="R7bd92bfcbc67479f" /><Relationship Type="http://schemas.openxmlformats.org/officeDocument/2006/relationships/slide" Target="/ppt/slides/slide12.xml" Id="Rd18313359e0a4c4a" /><Relationship Type="http://schemas.openxmlformats.org/officeDocument/2006/relationships/slide" Target="/ppt/slides/slide13.xml" Id="R1b686e84c6434b4c" /><Relationship Type="http://schemas.openxmlformats.org/officeDocument/2006/relationships/slide" Target="/ppt/slides/slide14.xml" Id="Rdc115fc2b5d14d5a" /><Relationship Type="http://schemas.openxmlformats.org/officeDocument/2006/relationships/slide" Target="/ppt/slides/slide15.xml" Id="R2d0f60a2db9e4e39" /><Relationship Type="http://schemas.openxmlformats.org/officeDocument/2006/relationships/slide" Target="/ppt/slides/slide16.xml" Id="R99da31bf721d45d1" /><Relationship Type="http://schemas.openxmlformats.org/officeDocument/2006/relationships/slide" Target="/ppt/slides/slide17.xml" Id="R6acce560c2c34aeb" /><Relationship Type="http://schemas.openxmlformats.org/officeDocument/2006/relationships/slide" Target="/ppt/slides/slide18.xml" Id="Ra11a806f5ccd41c2" /><Relationship Type="http://schemas.openxmlformats.org/officeDocument/2006/relationships/slide" Target="/ppt/slides/slide19.xml" Id="Rce60e0e0d68b4783" /><Relationship Type="http://schemas.openxmlformats.org/officeDocument/2006/relationships/slide" Target="/ppt/slides/slide20.xml" Id="R197dc2d769fb403c" /><Relationship Type="http://schemas.openxmlformats.org/officeDocument/2006/relationships/slide" Target="/ppt/slides/slide21.xml" Id="R40f8e163060a4049" /><Relationship Type="http://schemas.openxmlformats.org/officeDocument/2006/relationships/slide" Target="/ppt/slides/slide22.xml" Id="R77ab41ad74dd4800" /><Relationship Type="http://schemas.openxmlformats.org/officeDocument/2006/relationships/slide" Target="/ppt/slides/slide23.xml" Id="Rc2310fcc2071477c" /><Relationship Type="http://schemas.openxmlformats.org/officeDocument/2006/relationships/slide" Target="/ppt/slides/slide24.xml" Id="R3a150afcf26d41ac" /><Relationship Type="http://schemas.openxmlformats.org/officeDocument/2006/relationships/slide" Target="/ppt/slides/slide25.xml" Id="Rf77d3d97e7904f06" /><Relationship Type="http://schemas.openxmlformats.org/officeDocument/2006/relationships/slide" Target="/ppt/slides/slide26.xml" Id="R21422085bcaa4e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de4fac80a5b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2f25e350c34d32" /><Relationship Type="http://schemas.openxmlformats.org/officeDocument/2006/relationships/notesMaster" Target="/ppt/notesMasters/notesMaster1.xml" Id="R5afbaba16487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d123501de449f9" /><Relationship Type="http://schemas.openxmlformats.org/officeDocument/2006/relationships/notesMaster" Target="/ppt/notesMasters/notesMaster1.xml" Id="R931b4456945049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4cb75771a442b" /><Relationship Type="http://schemas.openxmlformats.org/officeDocument/2006/relationships/notesMaster" Target="/ppt/notesMasters/notesMaster1.xml" Id="Rd06ea124840040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ee318dca6d4dbe" /><Relationship Type="http://schemas.openxmlformats.org/officeDocument/2006/relationships/notesMaster" Target="/ppt/notesMasters/notesMaster1.xml" Id="R8b30de47978a47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37c5039c5c4952" /><Relationship Type="http://schemas.openxmlformats.org/officeDocument/2006/relationships/notesMaster" Target="/ppt/notesMasters/notesMaster1.xml" Id="R77b165b70bbc46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1c33cf6b4ca0" /><Relationship Type="http://schemas.openxmlformats.org/officeDocument/2006/relationships/notesMaster" Target="/ppt/notesMasters/notesMaster1.xml" Id="R6f09f432c80f4d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e5483e26994b41" /><Relationship Type="http://schemas.openxmlformats.org/officeDocument/2006/relationships/notesMaster" Target="/ppt/notesMasters/notesMaster1.xml" Id="R6743611acb0842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2585a7922446d6" /><Relationship Type="http://schemas.openxmlformats.org/officeDocument/2006/relationships/notesMaster" Target="/ppt/notesMasters/notesMaster1.xml" Id="R0d3f40c8c1c34d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e672c1255e4243" /><Relationship Type="http://schemas.openxmlformats.org/officeDocument/2006/relationships/notesMaster" Target="/ppt/notesMasters/notesMaster1.xml" Id="Rda248a69f0ec44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1fc237dc94141" /><Relationship Type="http://schemas.openxmlformats.org/officeDocument/2006/relationships/notesMaster" Target="/ppt/notesMasters/notesMaster1.xml" Id="R02fdc26e1a334f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86b7b1e55a4597" /><Relationship Type="http://schemas.openxmlformats.org/officeDocument/2006/relationships/notesMaster" Target="/ppt/notesMasters/notesMaster1.xml" Id="R96a5d05645b148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ca9239da324894" /><Relationship Type="http://schemas.openxmlformats.org/officeDocument/2006/relationships/notesMaster" Target="/ppt/notesMasters/notesMaster1.xml" Id="Rb8e8db71683847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e9ceec1faf4b6d" /><Relationship Type="http://schemas.openxmlformats.org/officeDocument/2006/relationships/notesMaster" Target="/ppt/notesMasters/notesMaster1.xml" Id="Rb7f08a30ba9f47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cd202bbbcc4678" /><Relationship Type="http://schemas.openxmlformats.org/officeDocument/2006/relationships/notesMaster" Target="/ppt/notesMasters/notesMaster1.xml" Id="Rc4ef5fd972cd48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d6e4642f5140da" /><Relationship Type="http://schemas.openxmlformats.org/officeDocument/2006/relationships/notesMaster" Target="/ppt/notesMasters/notesMaster1.xml" Id="R9c73748cd3d442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181f32a2114546" /><Relationship Type="http://schemas.openxmlformats.org/officeDocument/2006/relationships/notesMaster" Target="/ppt/notesMasters/notesMaster1.xml" Id="R50accbbc133b45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dada3ba5764ee5" /><Relationship Type="http://schemas.openxmlformats.org/officeDocument/2006/relationships/notesMaster" Target="/ppt/notesMasters/notesMaster1.xml" Id="R862bdc25bb294d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5644f2b2c84c96" /><Relationship Type="http://schemas.openxmlformats.org/officeDocument/2006/relationships/notesMaster" Target="/ppt/notesMasters/notesMaster1.xml" Id="Redead6a9dad642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39545ecddb84011" /><Relationship Type="http://schemas.openxmlformats.org/officeDocument/2006/relationships/notesMaster" Target="/ppt/notesMasters/notesMaster1.xml" Id="R77bb6f7908f949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eb92e6303c41d9" /><Relationship Type="http://schemas.openxmlformats.org/officeDocument/2006/relationships/notesMaster" Target="/ppt/notesMasters/notesMaster1.xml" Id="R063f123c1a6d4e2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a10614a42f84c04" /><Relationship Type="http://schemas.openxmlformats.org/officeDocument/2006/relationships/notesMaster" Target="/ppt/notesMasters/notesMaster1.xml" Id="R07a8dbdc21c441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eccad6c5a5499d" /><Relationship Type="http://schemas.openxmlformats.org/officeDocument/2006/relationships/notesMaster" Target="/ppt/notesMasters/notesMaster1.xml" Id="R8e7db93e6d1d42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85b73031ab141de" /><Relationship Type="http://schemas.openxmlformats.org/officeDocument/2006/relationships/notesMaster" Target="/ppt/notesMasters/notesMaster1.xml" Id="R682bd29046c74c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e80c2cea5f54b14" /><Relationship Type="http://schemas.openxmlformats.org/officeDocument/2006/relationships/notesMaster" Target="/ppt/notesMasters/notesMaster1.xml" Id="R833f36e989164a4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886570f630428e" /><Relationship Type="http://schemas.openxmlformats.org/officeDocument/2006/relationships/notesMaster" Target="/ppt/notesMasters/notesMaster1.xml" Id="R42f0c4435e1e43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a6d9c4e5a24022" /><Relationship Type="http://schemas.openxmlformats.org/officeDocument/2006/relationships/notesMaster" Target="/ppt/notesMasters/notesMaster1.xml" Id="R0a6065c44606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智慧停车管理系统V3.0，是一个集城市停车一张图、AI智能推荐、预约支付闭环及反向寻车于一体的完整解决方案。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本次演示将分为四个部分：项目背景与验收目标、产品能力全景、技术架构与数据状态、现场演示与交付。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第一部分将深入探讨当前城市停车面临的核心痛点，并明确V3.0版本需要达成的具体验收标准。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当前停车难的核心是信息割裂和流程断点。我们的项目通过构建统一业务链路，打通车主、车场和管理三方，实现信息无缝流转。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V3.0的目标是打造一条可现场跑通的停车业务闭环。我们设定了“可运行”、“可演示”、“可解释”三个验收维度，确保系统不仅能用，而且好用、好理解。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第二部分将全面介绍产品的能力全景，包括用户角色、核心功能模块以及完整的用户停车旅程。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系统明确划分为车主端和管理端，配合严格的路由守卫，确保不同角色只能访问其权限范围内的页面，保证了系统的安全性和演示的流畅性。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用户旅程覆盖从搜索目的地、接收AI推荐、预约车位、模拟入场、反向寻车到支付离场的完整闭环，验证了系统前后端状态同步的核心能力。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V3.0版本覆盖了用户源、地图寻车、预约停车、入出场计费、反向寻车和管理后台六大核心模块，每个模块都有明确的前后端支撑。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首页地图已升级为以用户目的地为核心的智能推荐引擎，自动搜索并标记周边停车场，使地图成为整个停车服务的主入口。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系统内置AI本地评分推荐算法，综合考虑距离、价格和剩余车位，动态生成最优推荐列表，实现完全本地化的智能决策。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预约功能实现了真正的车位锁定机制，并设有取消和过期释放规则，确保车位资源的高效利用，避免恶意占用。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通过模拟入场和出场功能，系统在无真实硬件的情况下，完整演示了从创建订单、自动计费到支付离场的无感支付场景。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反向寻车功能支持按车牌号查询，并提供详细的车位位置和引导路线，轻松解决用户在大型停车场的找车难题。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完善的个人中心提供订单管理、停车记录和个人信息维护功能，使得车主的整个停车流程更加完整和自主。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第三部分将深入探讨系统的技术架构和数据状态管理，解析前后端分离设计、API交互及数据一致性保障。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系统采用Vue 3 + FastAPI的前后端分离架构，巧妙结合高德地图的真实POI数据和系统内车场的业务状态管理，实现了真实感与可控性的统一。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系统的数据一致性建立在用户、车场、车位、预约和订单五大核心实体之上，通过严谨的联动关系共同维护业务闭环。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后端采用FastAPI框架，按业务边界组织路由，并自动生成交互式API文档，为功能验收提供了极大便利。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前端页面按用户流程和演示逻辑组织，核心功能整合于首页，确保了整个演示过程的连贯性和逻辑性。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系统内置严格的状态保护机制，在预约、订单和后台操作中确保数据一致性，有效防止演示过程中出现数据错乱。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最终版本已完成前端构建、后端语法及端到端业务流程的全面验证，核心业务状态可连续、正确地流转。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第四部分将通过完整的现场演示脚本串联核心功能，并说明项目的最终交付方式。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演示路线遵循完整的车主旅程，覆盖从搜索、推荐到支付离场的全过程，并最终切换到管理员后台验证数据沉淀。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项目的README文档已完善，包含详细的启动命令、演示账号和验收说明，便于后续部署和维护。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000000"/>
                </a:solidFill>
              </a:rPr>
              <a:t>SmartPark V3已成功构建可运行、可演示、可提交的智慧停车核心闭环，其清晰的架构为未来接入真实硬件和深度数据分析预留了充足空间。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690091cc14b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876b6430340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c300d415e43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11afacaf44f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46f34f1f54a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3a2a67cd7465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03faa7b8549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864ea0c3043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1834212244d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d9841e2af452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d3b33066d4cb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48da9f51994f0d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AABFE745-B337-4522-8908-40EEE58806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D0B0FA2C-FB14-475A-A4A8-31FCC12C78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EFCFD081-1046-46E4-8178-84F474B210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8A65D47-BC8A-4AE1-9479-3F3AC9574F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C3189F48-2E9B-4BB5-9AF9-D1884878C4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8F3EDBA4-58F8-47E3-8A81-D3E4C24F58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CA394CD3-0A13-4C61-ADA5-1E0174AA3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1F19918B-6F9D-4A9C-8718-35B584D05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8EBA80D1-1853-4E17-BB43-65C19AA888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CD428C0-3296-4979-BA9F-3F9F85BD0C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7CC18692-C3EA-4C46-8090-84CDAA043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F36FAEAC-5463-4543-9EA6-78C25F7D93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84A5C33B-E666-45EC-AF5C-9728B3513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75295F30-8852-44B2-A1CA-A47EDD32DB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D563208F-AB11-4E50-A68C-42CA839B90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4E13B1F7-3A07-413F-88A1-AF33A8F38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475B247-E497-4364-AE46-81718CDE6C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DB1C4412-4C78-4A90-8809-B3906D3B10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724B6521-344B-4CF2-9557-97D27C9150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0BCC15D1-DF38-45D1-A6F5-8324CAB72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EC453C28-7A17-4B17-87EE-0EC2E32581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FF5FA198-0AF2-40F4-8D80-8E636EB02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3799F4F-1239-4645-8D52-893B3E2FC8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61EDC80-41B3-40F0-B8E2-2A09B9D695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9D0ECDA-8576-4C58-80C3-9093D935A0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83AE68B7-67C7-48B8-AAA1-8047211ED04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8F907C3-D6B3-425C-B4CE-3B537C6936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DCE8D93-1FB2-4C38-B6A9-9CCA6EBC9B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5608EF3-F809-45A0-ACB7-C144D6EEC8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B662D144-D6AF-4547-B778-6527D309C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4E87442A-3206-4A3C-A3D7-00D1989D54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E7D638DC-06AF-4C16-B9B7-84D382DE1E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0BC6D5B5-F62D-4972-8191-DFDA624B31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34760A87-681A-4169-8B2D-E0F5249822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729567F8-D3F0-42F2-8E96-3D3D4D7276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FB63B54B-53F6-4DF3-B564-4E2D27E974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88728596-B2BD-4F92-944A-8C0F9D2D3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9307B283-36BF-4F60-B84E-68CF05D4CD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B59CE28A-0230-40D5-A249-67B3EABB30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E9B66E78-A23B-4A26-BD8F-5553B44CE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992949D8-A196-43A5-8859-4007D51E45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603F6770-D864-4739-8592-F528743FE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7F25F459-E46D-4BD9-B729-900B45F405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D73DF924-7CFE-450D-863B-5A7B4F33CE7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AA5499F-777E-41CF-830C-A2896B0E92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BC5D1BB4-1C87-4DD2-A95D-0B41329515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C6EE940F-C77C-4FA0-958B-615253215D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2946BC80-9FC5-4B7A-89BE-8490B760B5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EC6D4EDE-2F38-419A-B161-8ECB904CEA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B45E4393-FCEF-49FB-87A9-90574C244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333F0312-6928-4FD4-B477-D2F215D60D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634C593E-6B7F-4183-803E-A609B68FD2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38018413-AEEC-40CB-9049-9BE989FB7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5D21BFAB-2526-4170-BA97-656E7D27EE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EE847AB2-7105-44F8-BC4E-622451E7B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44D81808-E15A-47AB-89B0-97A4C818C3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FE019A0B-AAE5-495E-88E3-AA387AB568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001EDC91-449E-4943-88D5-A134816F36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79d780165c4733" /><Relationship Type="http://schemas.openxmlformats.org/officeDocument/2006/relationships/slideLayout" Target="/ppt/slideLayouts/slideLayout1.xml" Id="R327819f67f0c41f7" /><Relationship Type="http://schemas.openxmlformats.org/officeDocument/2006/relationships/slideLayout" Target="/ppt/slideLayouts/slideLayout2.xml" Id="R44f6985cca894d5c" /><Relationship Type="http://schemas.openxmlformats.org/officeDocument/2006/relationships/slideLayout" Target="/ppt/slideLayouts/slideLayout3.xml" Id="R3634b8bb69f94e0a" /><Relationship Type="http://schemas.openxmlformats.org/officeDocument/2006/relationships/slideLayout" Target="/ppt/slideLayouts/slideLayout4.xml" Id="Racef1bef2bfc470b" /><Relationship Type="http://schemas.openxmlformats.org/officeDocument/2006/relationships/slideLayout" Target="/ppt/slideLayouts/slideLayout5.xml" Id="Ree8be1bdf5f144b2" /><Relationship Type="http://schemas.openxmlformats.org/officeDocument/2006/relationships/slideLayout" Target="/ppt/slideLayouts/slideLayout6.xml" Id="R0b4ebac3a93947ed" /><Relationship Type="http://schemas.openxmlformats.org/officeDocument/2006/relationships/slideLayout" Target="/ppt/slideLayouts/slideLayout7.xml" Id="R34ecf5271db945a2" /><Relationship Type="http://schemas.openxmlformats.org/officeDocument/2006/relationships/slideLayout" Target="/ppt/slideLayouts/slideLayout8.xml" Id="R7e98bf52135946b4" /><Relationship Type="http://schemas.openxmlformats.org/officeDocument/2006/relationships/slideLayout" Target="/ppt/slideLayouts/slideLayout9.xml" Id="R4a3fd2a2f3754fca" /><Relationship Type="http://schemas.openxmlformats.org/officeDocument/2006/relationships/slideLayout" Target="/ppt/slideLayouts/slideLayout10.xml" Id="R13d04be93a0b4a99" /><Relationship Type="http://schemas.openxmlformats.org/officeDocument/2006/relationships/slideLayout" Target="/ppt/slideLayouts/slideLayout11.xml" Id="R46142154276647f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af96f79de5c4565" /><Relationship Type="http://schemas.openxmlformats.org/officeDocument/2006/relationships/slideLayout" Target="/ppt/slideLayouts/slideLayout12.xml" Id="R27776433ac5d409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ED728DF-C641-4A4F-825E-FB0B82DC9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2DD17FFB-F8F0-421D-97BB-B39AE6FE2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C60F5337-6231-43CA-8261-7D3473A5D0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7AE23C60-BF2B-4267-8E35-362EE1C656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C9872D73-36C8-44A1-9250-16F15974E4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7819f67f0c41f7"/>
    <p:sldLayoutId xmlns:r="http://schemas.openxmlformats.org/officeDocument/2006/relationships" id="2147483650" r:id="R44f6985cca894d5c"/>
    <p:sldLayoutId xmlns:r="http://schemas.openxmlformats.org/officeDocument/2006/relationships" id="2147483651" r:id="R3634b8bb69f94e0a"/>
    <p:sldLayoutId xmlns:r="http://schemas.openxmlformats.org/officeDocument/2006/relationships" id="2147483652" r:id="Racef1bef2bfc470b"/>
    <p:sldLayoutId xmlns:r="http://schemas.openxmlformats.org/officeDocument/2006/relationships" id="2147483653" r:id="Ree8be1bdf5f144b2"/>
    <p:sldLayoutId xmlns:r="http://schemas.openxmlformats.org/officeDocument/2006/relationships" id="2147483654" r:id="R0b4ebac3a93947ed"/>
    <p:sldLayoutId xmlns:r="http://schemas.openxmlformats.org/officeDocument/2006/relationships" id="2147483655" r:id="R34ecf5271db945a2"/>
    <p:sldLayoutId xmlns:r="http://schemas.openxmlformats.org/officeDocument/2006/relationships" id="2147483656" r:id="R7e98bf52135946b4"/>
    <p:sldLayoutId xmlns:r="http://schemas.openxmlformats.org/officeDocument/2006/relationships" id="2147483657" r:id="R4a3fd2a2f3754fca"/>
    <p:sldLayoutId xmlns:r="http://schemas.openxmlformats.org/officeDocument/2006/relationships" id="2147483658" r:id="R13d04be93a0b4a99"/>
    <p:sldLayoutId xmlns:r="http://schemas.openxmlformats.org/officeDocument/2006/relationships" id="2147483659" r:id="R46142154276647f3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7776433ac5d409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06c5ffafa74997" /><Relationship Type="http://schemas.openxmlformats.org/officeDocument/2006/relationships/notesSlide" Target="/ppt/notesSlides/notesSlide1.xml" Id="R01d5ee24bd99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c3ca6fcf374eee" /><Relationship Type="http://schemas.openxmlformats.org/officeDocument/2006/relationships/notesSlide" Target="/ppt/notesSlides/notesSlide2.xml" Id="R1d4cad81a0f949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6e809981c504001" /><Relationship Type="http://schemas.openxmlformats.org/officeDocument/2006/relationships/notesSlide" Target="/ppt/notesSlides/notesSlide3.xml" Id="R76cc446e82a74f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ca71809a0a4ad8" /><Relationship Type="http://schemas.openxmlformats.org/officeDocument/2006/relationships/notesSlide" Target="/ppt/notesSlides/notesSlide4.xml" Id="Reee1700df2e046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6ebbb04b314443" /><Relationship Type="http://schemas.openxmlformats.org/officeDocument/2006/relationships/notesSlide" Target="/ppt/notesSlides/notesSlide5.xml" Id="R1bee4c4daaf9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947d7395fe4ea5" /><Relationship Type="http://schemas.openxmlformats.org/officeDocument/2006/relationships/notesSlide" Target="/ppt/notesSlides/notesSlide6.xml" Id="R487a5fdc373c47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b99e95d7fc4b31" /><Relationship Type="http://schemas.openxmlformats.org/officeDocument/2006/relationships/notesSlide" Target="/ppt/notesSlides/notesSlide7.xml" Id="Rd6651e4ceb994b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1c392abd3f04a27" /><Relationship Type="http://schemas.openxmlformats.org/officeDocument/2006/relationships/notesSlide" Target="/ppt/notesSlides/notesSlide8.xml" Id="R12c91f315913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faf807a14444d0" /><Relationship Type="http://schemas.openxmlformats.org/officeDocument/2006/relationships/notesSlide" Target="/ppt/notesSlides/notesSlide9.xml" Id="Rf156b22e98bd49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d12bf1d9b054502" /><Relationship Type="http://schemas.openxmlformats.org/officeDocument/2006/relationships/notesSlide" Target="/ppt/notesSlides/notesSlide10.xml" Id="R0a39f3b5bb3040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31e1c502154efe" /><Relationship Type="http://schemas.openxmlformats.org/officeDocument/2006/relationships/notesSlide" Target="/ppt/notesSlides/notesSlide11.xml" Id="R8e1c3d8b5bbe4a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ab033c1a0442a6" /><Relationship Type="http://schemas.openxmlformats.org/officeDocument/2006/relationships/notesSlide" Target="/ppt/notesSlides/notesSlide12.xml" Id="Rfc05ac9b576347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06a86eb9d94856" /><Relationship Type="http://schemas.openxmlformats.org/officeDocument/2006/relationships/notesSlide" Target="/ppt/notesSlides/notesSlide13.xml" Id="R58d90cac2a20440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44e2138eaf44b58" /><Relationship Type="http://schemas.openxmlformats.org/officeDocument/2006/relationships/notesSlide" Target="/ppt/notesSlides/notesSlide14.xml" Id="R2c2ad6a0ef204a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54d00e288d4565" /><Relationship Type="http://schemas.openxmlformats.org/officeDocument/2006/relationships/notesSlide" Target="/ppt/notesSlides/notesSlide15.xml" Id="R16de4c87692d42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b6dce0c5f24060" /><Relationship Type="http://schemas.openxmlformats.org/officeDocument/2006/relationships/notesSlide" Target="/ppt/notesSlides/notesSlide16.xml" Id="Rd273850c0e404e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4d599761a842a3" /><Relationship Type="http://schemas.openxmlformats.org/officeDocument/2006/relationships/notesSlide" Target="/ppt/notesSlides/notesSlide17.xml" Id="Rcb3dc22375354de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d6305ca2c84438" /><Relationship Type="http://schemas.openxmlformats.org/officeDocument/2006/relationships/notesSlide" Target="/ppt/notesSlides/notesSlide18.xml" Id="Rd2616692ae264a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fc5b18bff14bb9" /><Relationship Type="http://schemas.openxmlformats.org/officeDocument/2006/relationships/notesSlide" Target="/ppt/notesSlides/notesSlide19.xml" Id="Rfb0f5db97c144f6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cbcfcde2ed4a33" /><Relationship Type="http://schemas.openxmlformats.org/officeDocument/2006/relationships/notesSlide" Target="/ppt/notesSlides/notesSlide20.xml" Id="R00c6d1d3e9bf4c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a014e205cd34915" /><Relationship Type="http://schemas.openxmlformats.org/officeDocument/2006/relationships/notesSlide" Target="/ppt/notesSlides/notesSlide21.xml" Id="R8c6406b3929f4e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1ab9342be84490" /><Relationship Type="http://schemas.openxmlformats.org/officeDocument/2006/relationships/notesSlide" Target="/ppt/notesSlides/notesSlide22.xml" Id="Rc7d5711c3eab432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0f62000c2347e1" /><Relationship Type="http://schemas.openxmlformats.org/officeDocument/2006/relationships/notesSlide" Target="/ppt/notesSlides/notesSlide23.xml" Id="R4acc13c22e3d49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9a57c094ea4928" /><Relationship Type="http://schemas.openxmlformats.org/officeDocument/2006/relationships/notesSlide" Target="/ppt/notesSlides/notesSlide24.xml" Id="R3f685abe34074a8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a88b8d71fe54c78" /><Relationship Type="http://schemas.openxmlformats.org/officeDocument/2006/relationships/notesSlide" Target="/ppt/notesSlides/notesSlide25.xml" Id="Reb8d16ad968a44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c49f36e65e4bcb" /><Relationship Type="http://schemas.openxmlformats.org/officeDocument/2006/relationships/notesSlide" Target="/ppt/notesSlides/notesSlide26.xml" Id="Re74dcd11e0804d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334BD15-DEDF-436F-83B6-AE9FF9B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11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2217A3C-4744-41F3-AA98-E96F6DE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600" y="0"/>
            <a:ext cx="6731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95DF359-7A33-4384-BAFC-E916415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58800"/>
            <a:ext cx="40005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智慧停车研发团队 | 产品验收汇报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7BD6F09-7274-4FE5-B782-F39DC4BF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587500"/>
            <a:ext cx="6858000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5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智慧停车管理系统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5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V3.0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6ACC03B-C5F7-4790-A452-C90BF75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429000"/>
            <a:ext cx="6667500" cy="749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E0F2FE"/>
                </a:solidFill>
                <a:latin typeface="Calibri"/>
                <a:ea typeface="Calibri"/>
                <a:cs typeface="Calibri"/>
              </a:rPr>
              <a:t>城市停车一张图 · 本地评分推荐 · 预约与支付闭环 · 反向寻车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6227E64-A6D3-4209-A1FA-A018FF79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1219200"/>
            <a:ext cx="3035300" cy="304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1C33">
              <a:alpha val="100000"/>
            </a:srgbClr>
          </a:solidFill>
          <a:ln xmlns:a="http://schemas.openxmlformats.org/drawingml/2006/main" w="12700" cmpd="sng">
            <a:solidFill>
              <a:srgbClr val="2D436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2EFEA1F-70B9-4D93-B43F-02C1026B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1587500"/>
            <a:ext cx="2286000" cy="4191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9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A4ABD93-DD84-4A94-9A17-C4E8AEF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387600"/>
            <a:ext cx="2387600" cy="10541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验收演示版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闭环演示 · 可运行交付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51328C4F-70BC-4144-BDEB-E7B4A518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197100" cy="3302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B05BDD3-E5CE-4A0F-9571-5EDB6912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9200"/>
            <a:ext cx="1892300" cy="190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关键截图位已预留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24E7CD4-3BCC-45B6-91A0-2D37CB33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6197600"/>
            <a:ext cx="49530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C7D2FE"/>
                </a:solidFill>
                <a:latin typeface="Calibri"/>
                <a:ea typeface="Calibri"/>
                <a:cs typeface="Calibri"/>
              </a:rPr>
              <a:t>2026 · SmartParkCloudLink-hdjd</a:t>
            </a:r>
          </a:p>
        </p:txBody>
      </p:sp>
    </p:spTree>
    <p:extLst>
      <p:ext uri="{BB962C8B-B14F-4D97-AF65-F5344CB8AC3E}">
        <p14:creationId xmlns:p14="http://schemas.microsoft.com/office/powerpoint/2010/main" val="1578522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9552BB-0A5B-43DF-B89D-C603AA44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289C5B1-A45F-446A-AADF-392DB49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C26D61C-68C3-4E82-97F6-7B987A47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F15C8E7-F9FF-473F-902D-6443F7F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40C979C-1F3C-47B3-99E2-E7FBDA2F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演示大纲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F1D0643-7AA3-46A3-AAD8-AB5ED487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这份演示按验收逻辑展开，而不是只罗列功能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1290F02-854D-4CB2-92C2-9C42B3D7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本次演示围绕项目背景、产品能力、技术架构、现场演示与交付物展开；关键截图位已预留，后续可直接替换为真实项目截图。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7F505C5-FA1A-4EAF-B1DE-8153E791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197100"/>
            <a:ext cx="2235200" cy="233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74697D30-A8F7-4BA2-A8A2-0911851A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463800"/>
            <a:ext cx="673100" cy="444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1EE2CCE9-F2B2-40D2-9A95-BCE476CB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3098800"/>
            <a:ext cx="1765300" cy="495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项目背景与验收目标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92A912A-A4F1-4B18-A95C-61D4F8BB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3759200"/>
            <a:ext cx="1765300" cy="762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回顾项目建设的业务初衷，明确本次验收的核心标准与关键指标，对齐验收预期。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69904BC-07AE-4325-BA7A-01B97A3B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700" y="2197100"/>
            <a:ext cx="2235200" cy="233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9D734B5-0F6B-4B54-A37C-EDB3163B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00" y="2463800"/>
            <a:ext cx="673100" cy="444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620C98BB-37B8-4B82-8BF3-F1E66A9F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00" y="3098800"/>
            <a:ext cx="1765300" cy="495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产品能力全景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CD26B070-2357-4F1C-A93C-EE163BE3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00" y="3759200"/>
            <a:ext cx="1765300" cy="762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全景展示车主端功能、地图服务能力、预约与寻车体验，及后台管理系统的核心模块。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6EADCD87-5589-4586-9859-0C62F83D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7100"/>
            <a:ext cx="2235200" cy="233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9EE6DDE5-9CE6-41E0-AD18-34C9DCF8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3800"/>
            <a:ext cx="673100" cy="444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11323119-998A-47D7-AB1C-C70C1F22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8800"/>
            <a:ext cx="1765300" cy="495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技术架构与数据状态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CD5B7DDE-BE9E-4C0D-81B0-19AE90B1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9200"/>
            <a:ext cx="1765300" cy="762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解析前后端交互架构，验证地图API调用稳定性，确保订单全链路数据状态的一致性。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4D35AB3-62F1-434F-9D96-AFC7766C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4300" y="2197100"/>
            <a:ext cx="2235200" cy="2336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FDFA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A40ED03A-F5C1-4B33-875E-509EE32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0" y="2463800"/>
            <a:ext cx="673100" cy="444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0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04C61AF2-736C-4C20-B5C1-46F32FC2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0" y="3098800"/>
            <a:ext cx="1765300" cy="495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现场演示与交付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B2C5762A-909B-40F3-983C-DE298191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900" y="3759200"/>
            <a:ext cx="1765300" cy="762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执行核心业务场景的现场演示，展示验收测试检查结果，说明代码与文档的最终交付方式。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F857505A-F333-4DBF-82F1-A805B25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9D4A7A14-C706-4A63-A729-EEF46DE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演示大纲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7C54A6F9-7AE2-4883-AD9F-83D28054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2538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00E7674-A061-4B4F-962F-E27D29A2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92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0DEBBA-CA0D-4B01-9619-BEBA055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0"/>
            <a:ext cx="9017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8CE1B36-5695-49CC-A200-6D49087D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8E16726-41C2-4AC5-A754-7E3FCEFC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6100"/>
            <a:ext cx="7239000" cy="1333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项目背景与验收目标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0D48F-437C-4DCE-AC25-0726DE81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7600"/>
            <a:ext cx="4864100" cy="1143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D8EAFE"/>
                </a:solidFill>
                <a:latin typeface="Calibri"/>
                <a:ea typeface="Calibri"/>
                <a:cs typeface="Calibri"/>
              </a:rPr>
              <a:t>从问题和目标出发，依次说明产品、技术、核心流程、验证结果和提交方式。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B7FFF49-FEDE-4713-AC3C-EE3D6AEC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100" y="5905500"/>
            <a:ext cx="863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1012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511AB68-77A4-49FF-8753-CE417DFD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C111D7A-2A67-443B-AA26-0ED312D0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912421C-0F21-4ABA-8B58-7C6ACD8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118BDDF-E2CB-4521-AE1C-5E11F3A7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129D61E-EB64-44DA-86B7-C391A9D0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项目背景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024D615-F47D-41B1-90DB-E2615142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停车难的核心不是没有车位，而是信息与流程没有连起来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9509889-E728-4F9C-A8BA-7506BEFC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把车主决策、车场状态和后台运营放在同一套业务链路里验证，打破信息孤岛与流程断点。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4C8CA51-6C90-44CC-A863-F500BDE3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120900"/>
            <a:ext cx="32385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986CC2C-DE1F-4A53-9063-7BD4271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120900"/>
            <a:ext cx="32385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2B48833-7BEF-4162-B528-C6214A68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194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车主痛点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A17DA0F-1BAD-4CE8-B7AC-D41B4BA9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8194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目的地车位信息不透明，比价与找位全靠人工，决策成本高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场内寻车无指引，离场缴费排队久，离场体验差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线上预约与线下入场不同步，车位锁定失效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19C137F-CBE3-4499-AF08-654AC70F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120900"/>
            <a:ext cx="32385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AA4F312-9E4A-4EF0-BA9B-4D7A31A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120900"/>
            <a:ext cx="32385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E1F688D2-77EE-4FA3-B7C0-EC53F63E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194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车场痛点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EFCDF5AB-53A6-4C47-BCE9-43344E18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43200"/>
            <a:ext cx="28194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车位状态靠人工巡检，线上显示与实际不符，信任度低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预约、计费、支付系统割裂，数据不通导致对账繁琐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异常占位、重复入场频发，人工处理效率低且易出错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AEF3E93-D871-4C13-B779-59470A6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20900"/>
            <a:ext cx="32385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300F1171-AE33-48AA-ABC7-37F0B35F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120900"/>
            <a:ext cx="32385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49787A9-2F23-4619-89F1-D6EA3891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8194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管理痛点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CF86438-DBFF-477B-8067-8EC1F738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8194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运营数据分散，无统一视图，营收与车位利用率难监控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统计报表T+1生成，无法实时响应客流与车位变化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缺少可视化监管大屏，难以支撑精细化运营与决策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8F6BA988-7FA5-4444-9595-80B676CD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635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6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项目回应：构建统一业务中台，先打通“车主-车场-管理”核心闭环，实现车位状态实时同步、全流程线上化；同时预留设备对接、聚合支付及城市级大数据分析接口，支撑后续规模化扩展。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5ADC570F-E987-46F4-B469-D002AA0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0FDA161B-EAC4-4083-8084-5F90536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项目背景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8E3D5CD7-5DA2-42BD-8E4F-FCB239D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2699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964665-F434-4D88-BF23-8A5A1DD0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F7119E8-D783-4BE1-8927-D3FAA96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656BCF6-D777-4B32-A5F3-6DC62EBC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DECE7F6-1967-4862-9C93-1866E74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863718F-2BA3-4368-9F09-4307B4AB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验收目标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A313C08-479A-4055-B6DE-FFA2BBCB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11049000" cy="698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V3.0 的目标是形成一条可以现场跑通的停车业务闭环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B925697-4D74-46FA-A2DC-7A2DC806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11049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验收不只看页面数量，更看地图、预约、订单、车位状态能否前后联动。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7071051-FD00-4B10-9993-D36C11D6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B88D9E64-F53F-4910-8300-DDB1E6D3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验收目标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CD0FAD4B-8C6A-42E2-9761-354ECEF5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FD8197D-37F6-4C8D-AAF7-703FF82F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2352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619313F-CB7B-4A87-93F7-96829EB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73300"/>
            <a:ext cx="18542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8541A05-A2E1-4B5C-9D2C-3B90C2F4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819400"/>
            <a:ext cx="18923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核心业务能力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BFA3044-C367-490F-9710-72011C43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2095500"/>
            <a:ext cx="22352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592A7449-AEE4-42E5-845C-0F9FF1FA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100" y="2273300"/>
            <a:ext cx="18542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10+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EA9A65E-7E1B-4F75-8542-E3FEC91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18923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新增业务页面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320F3A9-6B22-4ED4-89FC-0B63A501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95500"/>
            <a:ext cx="22352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1A88F217-6F15-4392-8EB3-F474BBC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73300"/>
            <a:ext cx="18542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E59B9343-8D73-4F88-BE8B-7BDAAC24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819400"/>
            <a:ext cx="18923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后端组合模块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E34A96A-A14C-4407-B3E1-BA96F51F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2095500"/>
            <a:ext cx="22352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42E6A38B-26AF-45EE-8665-DCF53229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273300"/>
            <a:ext cx="18542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132DA251-2A2E-457B-A38E-492A6D0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8923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完整演示主线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C7F24287-23E6-405A-AFCC-84C589E3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08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4DF0E2BF-DF94-4806-A6D6-8481C077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3949700"/>
            <a:ext cx="1905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验收维度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73EBC429-4B63-451C-903D-F8ABC3D1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60800"/>
            <a:ext cx="3238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1B8D4309-F724-4A26-A06A-004550DD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3949700"/>
            <a:ext cx="3048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达标方式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91401436-0652-40EF-A212-3FA2DB5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0800"/>
            <a:ext cx="4953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73223E03-5EB5-46F0-A4B6-EDC24F57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949700"/>
            <a:ext cx="4762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对应体现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2B6F6981-98CB-4B2A-911E-BE200401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80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2E20E0F1-7851-4E09-86BA-66044F34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4406900"/>
            <a:ext cx="1905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可运行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0122E115-11EE-41B6-AEB1-3789CFF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18000"/>
            <a:ext cx="3238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9E6C8F8F-9AD3-4986-BEFF-5F682AF2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4406900"/>
            <a:ext cx="3048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前后端可启动，构建检查通过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50A3CC42-F5EA-4009-AE00-2AA43AAB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953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170ABBD4-99EA-4CE3-9A61-E68C9A1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4406900"/>
            <a:ext cx="4762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FastAPI + Vue3 + SQLite 环境就绪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6CFC30DB-9773-4850-A8BF-96D0642E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52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FAEC67B1-03EA-42F8-AD6E-ABE185B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4864100"/>
            <a:ext cx="1905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可演示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FAB133B0-9D04-4801-9073-A9496D91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75200"/>
            <a:ext cx="3238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41DD4F87-17B4-4E06-972D-C4D792EA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4864100"/>
            <a:ext cx="3048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主流程从登录到支付离场全闭合</a:t>
            </a: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EEBEE768-E554-48A5-9BEF-94242F7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5200"/>
            <a:ext cx="4953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8E98F7C4-C477-46F6-9DEF-596C4FCB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4864100"/>
            <a:ext cx="4762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地图车位推荐、预约、模拟入出场、反向寻车、支付</a:t>
            </a: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E17AD019-EA25-4702-998D-290B423E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2400"/>
            <a:ext cx="2095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7E9EDAC6-C296-4A9D-A0A4-6BEEF802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321300"/>
            <a:ext cx="1905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可解释</a:t>
            </a: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97556BDC-33F1-4745-9FB3-009F1B27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32400"/>
            <a:ext cx="32385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06ED0D8C-0943-4B4C-A221-2A94C17F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5321300"/>
            <a:ext cx="3048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文档清晰说明架构设计与技术取舍</a:t>
            </a: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0374AABF-7C12-426B-88CD-2DE6C584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2400"/>
            <a:ext cx="49530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021EBAFE-516B-4BB3-8585-6FDE7F4C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5321300"/>
            <a:ext cx="4762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状态机流转逻辑、接口边界定义、本地评分机制说明</a:t>
            </a:r>
          </a:p>
        </p:txBody>
      </p:sp>
    </p:spTree>
    <p:extLst>
      <p:ext uri="{BB962C8B-B14F-4D97-AF65-F5344CB8AC3E}">
        <p14:creationId xmlns:p14="http://schemas.microsoft.com/office/powerpoint/2010/main" val="958144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9F50D6C-48E2-45DB-9379-ADFF561F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92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D0E06EB-A0A5-457B-8F1F-F8F6A32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0"/>
            <a:ext cx="9017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1A057FA-A9CD-4B83-9652-2851237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B9E0FB2-2BC8-4DDE-836C-FBBF78A4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6100"/>
            <a:ext cx="7239000" cy="1333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产品能力全景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6C1009D-A7C9-4CDD-AE5E-9A8C48A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7600"/>
            <a:ext cx="4864100" cy="1143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D8EAFE"/>
                </a:solidFill>
                <a:latin typeface="Calibri"/>
                <a:ea typeface="Calibri"/>
                <a:cs typeface="Calibri"/>
              </a:rPr>
              <a:t>先看系统给谁用、能做什么，以及一条完整停车旅程如何走通。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1F10352-F626-4D70-A833-4FDCD5F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100" y="5905500"/>
            <a:ext cx="863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6656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9C6BEF2-90DA-4170-B46A-8171BAB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405ACFE-5FC1-495C-8450-299177A7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AC18C2B-ED42-44A6-9BB2-00B3C279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17271E8-C30C-43A0-BB63-1A8A18B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35206F-34D7-4210-A404-50BB048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角色与入口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DD830CD-5C72-4BB4-9FA7-A72A99AE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系统把车主端和管理端分开，演示路径更清晰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4512FD0-5437-4BFF-AD58-612DE739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默认进入登录页，普通用户进入停车流程，管理员进入运营后台。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454D9B-3C5E-4F22-A474-DABE9ADC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095500"/>
            <a:ext cx="3289300" cy="261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04CCB50-0FD0-4281-81E6-4F160FF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6BDADCC-440C-471E-BCFF-D7DFF4A3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普通用户 User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BF97457-EC68-410B-9B3C-9CE140FC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0500"/>
            <a:ext cx="2870200" cy="1841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测试账号：user / user123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登录后直达首页地图界面，直观展示周边车位分布与状态。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支持目的地搜索、智能车位推荐、在线预约、订单管理、反向寻车及聚合支付等全流程操作。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11EC2ECB-28D1-4F39-8F18-B3FC4B26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9300" cy="261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52A782F-A5D2-4D7D-8AA5-90465B0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54713A1-6222-4221-A716-BFFA8DE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管理员 Admin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4944633-9C60-4A3A-A1B7-79925951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730500"/>
            <a:ext cx="2870200" cy="1841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测试账号：admin / admin123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登录后进入独立的运营管理后台，具备数据看板与操作权限。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可实时查看车场监控、车位状态、订单流水，并生成多维度运营统计报表，支持配置管理。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329AA953-7B05-416B-8135-C4FEE14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095500"/>
            <a:ext cx="3289300" cy="261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75305701-2166-4FB9-A080-4FADEA2E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0B348B8-B640-4741-A5A2-3FFD75D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安全路由守卫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A720D26-8AF7-44C5-A361-CC3A117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30500"/>
            <a:ext cx="2870200" cy="1841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未登录状态访问业务页，自动重定向至 /login 登录界面。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后台管理路由严格校验 Admin 角色权限，非授权用户无法访问。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有效防止演示过程中误入错误页面，保障演示流程的顺畅与安全。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E886630-32EF-4619-BF27-2AA9C1C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FC06B97-B796-4DC8-8CAB-274E3429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角色与入口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D55A354A-42CC-47A7-8FE9-ABD0EDD5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3467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29D284F-E932-4D92-8D52-609866BB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7956191-2ED3-4D31-ADDE-8938AC6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96D8F73-DA19-4C68-A918-92DE7FC2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0B6ED3-5410-48EB-BB2A-9C5A4637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2729D44-22FB-409A-A1BC-18A36D4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用户旅程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F083C0D-A95B-4760-87A9-B2AF9E87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一次停车演示可以从目的地搜索一直走到支付离场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1CF4E5A-04B9-421C-A506-3BF9DE1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V3 把首页、预约、订单、寻车和后台数据串成连续故事。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68122D9-4FB1-487D-B910-8FD4911A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7E7ED4C-0820-4EE4-A1DB-359EEE5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1A26E94B-9A75-4296-8007-7AFAE612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登录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CF95DFA-C016-4746-93FC-A5571262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8C3614-B644-4266-AC7B-706D8A0C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2BBDC63-8300-45FA-B967-6D3D98FE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搜目的地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4712DA7-FBF0-478E-961C-225FEE89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CC44055B-C633-4909-9524-84C66E7A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1BB273B-E1F0-4306-83DA-57F70E4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评分推荐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84AC958-86C0-4EF7-8FE9-107753A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08282787-F7E6-4DEB-93BD-58625356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52BBA7AF-FBDE-47F4-841C-553DBAA0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预约车位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6F938B61-5339-4BC9-BE3F-E16BA8D0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7087705A-6C14-456C-8F63-B4EB28C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3CC092E0-D239-48C8-A5B4-B7BB338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模拟入场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20B1CD3C-6288-4B91-A95C-0CC019C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6C85CD62-1CA5-4F9D-9574-C40291F0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F2345BBD-9C1D-4C4D-A594-44C683CC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100D1BDB-DD2B-4093-8DFE-360E6D6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352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9FEF6EDB-4D49-4A74-BBCD-6A058D67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495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390B9FC4-F739-4880-B1A4-897563E6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35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出场支付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A1A5E4FB-D8A9-41BC-BA9F-A2E3800A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39878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8E9D51A3-10DD-43FE-B0C8-E5103EE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11600"/>
            <a:ext cx="928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车主端演示重点：地图找车位、系统给推荐、预约后通过模拟入场生成订单。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7FC16701-27B7-4992-BFF9-5AA95D53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44958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7D20647B-BDD0-4771-8E22-58EFF68F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928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运营端演示重点：后台查看车场和订单，验证前台行为会沉淀为可管理数据。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5B855657-8D7D-4DC3-9F63-EACF9815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00" y="50165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0B17B1A6-894D-4734-B66B-26786BD9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40300"/>
            <a:ext cx="928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最终讲解重点：系统不是静态页面，而是前后端共同维护业务状态。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EE65FE67-17F1-4E8E-89DA-C2E8C6C3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1EAFA0F1-19E7-4C5C-A942-59014229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用户旅程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11B4EC49-8399-46B7-A0F9-4D287864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77284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BA941BF-5EB6-4910-A22C-61637398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5EA3F30-1A00-4841-8173-0EA04F2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62E1BCC-F1E3-4A49-BCAB-E8B9D737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3E16BD2-53F4-446F-A538-F5E1EF99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6ED5EAE-F75C-487E-8FD8-6B2BC4E9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功能总览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215CF7A-BB98-46C5-9E38-F7FCAF82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V3.0 已覆盖车主端、地图推荐、预约停车和运营后台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327A79A-39AB-4D13-A618-1DAA15FF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每个能力都对应前端页面和后端接口，便于验收时逐项说明。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C5B0AD6-5A3C-438B-895A-2CA6CEC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19812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91B8D18-48CB-431D-999D-C8047BBA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模块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D3729AC-33B7-4498-BB93-48BB7C5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19812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EA4859F-E420-4F7D-B7EB-89B4ECE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20828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核心功能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E552DF40-B6C9-4973-A82F-64EDDE77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19812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A0C9B82-16D5-42B8-A152-C951B1C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0828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页面入口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5357784-C3C1-498C-9E82-82C738D4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9812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E9989C77-2B11-4C52-A032-E49F552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20828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后端支撑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9D38A3A-1D0A-4483-8219-8D8748B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4638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5027649-ADF2-4BEE-928C-BC0CF19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用户源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AB85C13E-E59E-4C60-9D22-8E3DDD1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4638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56B513E2-F871-488E-A71A-FF36CB09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25527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登录注册、个人资料、车牌维护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4CFBC11-FA18-48B8-A1AF-C2F46DCA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24638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B556B4B0-76F9-4531-BAAE-3CB29972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5527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Login / Mine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870283F2-CEE1-40BD-B576-D6F5B50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24638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5A620565-040A-450E-92B0-40BBDF24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25527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auth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3758C0FD-ADFE-4B31-AD23-C7C2B744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9337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D250C5BF-572C-4525-B50E-82096137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53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地图寻车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DD40DA56-2BE2-4B76-84D7-8791C85A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29337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372DE2D3-47D4-4ADA-B871-BC17DB08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0353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目的地搜索、POI推荐、地图标记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C89CAB7-B13F-45F3-884C-E92E42D0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29337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1452651F-969A-478E-A3E8-C2EBB92F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0353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Home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EC55BDF1-FE5D-4C7A-AD66-09F9E39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29337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DBD2C14F-02A5-4BDF-9203-2738F33E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30353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lots + 高德 JS API</a:t>
            </a: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BE523278-8255-485F-AA2A-CA545A1B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34163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B0242739-512A-41F0-B15A-CB6054AE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预约停车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16E059AF-5696-4555-BEA0-07449A1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34163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440FB6AF-189D-4ACA-B94F-E571087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5052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预约、确认、取消、过期释放</a:t>
            </a: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D81ABBA3-94DF-41B9-B223-DB9C2C17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4163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4AD0A4F9-D321-4014-A8D6-4BC945C3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5052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LotDetail / Reservations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78222426-0E55-4275-BA3D-F74B2E06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34163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22C2E323-0E73-4664-A315-9D0A0A0F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35052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reservations</a:t>
            </a: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DE4F6685-7D26-42C9-AE89-7EF6B4F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38862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E0EDC0EE-5DC2-4A4A-8604-089FEC5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78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入出场计费</a:t>
            </a: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A44CBDDB-AB04-49F3-A805-C30407B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38862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7055AF59-7416-4384-A470-1E75F4D6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39878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模拟识别、订单、支付、记录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6FA38B0E-5E7D-4FEC-977B-56B7D979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8862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D2BC2865-1F75-4A94-87CF-117161CA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39878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Home / Orders / Records</a:t>
            </a: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7E9A38CB-BE96-4261-8727-F684805C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38862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C9460372-7D34-472D-ADF5-E94BD85E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39878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orders</a:t>
            </a: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27604CD2-842F-4476-8D1E-B123CEF8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43688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67118C2E-54C7-489C-8F8B-0CA70DC0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51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5A9E2CFD-0BAA-40CC-AE64-5EE328B8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43688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F6283577-65EF-477E-8327-C28B6DCD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44577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当前车辆、车位位置、路线步骤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C62EF13E-9862-43AD-ACC6-16B79A4A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43688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AutoShape 54">
            <a:extLst xmlns:a="http://schemas.openxmlformats.org/drawingml/2006/main">
              <a:ext uri="{FF2B5EF4-FFF2-40B4-BE49-F238E27FC236}">
                <a16:creationId xmlns:a16="http://schemas.microsoft.com/office/drawing/2014/main" id="{930DC754-8D82-4AE6-8A55-EFFEE2E4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44577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FindCar</a:t>
            </a:r>
          </a:p>
        </p:txBody>
      </p:sp>
      <p:sp>
        <p:nvSpPr>
          <p:cNvPr id="55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E3E404EF-953F-4E6C-A4B5-ADB522B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43688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AutoShape 56">
            <a:extLst xmlns:a="http://schemas.openxmlformats.org/drawingml/2006/main">
              <a:ext uri="{FF2B5EF4-FFF2-40B4-BE49-F238E27FC236}">
                <a16:creationId xmlns:a16="http://schemas.microsoft.com/office/drawing/2014/main" id="{600A8637-7D03-4028-849D-966964A2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44577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orders + spots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E2259157-EB95-46C7-879B-F05C013F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4838700"/>
            <a:ext cx="15748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AutoShape 58">
            <a:extLst xmlns:a="http://schemas.openxmlformats.org/drawingml/2006/main">
              <a:ext uri="{FF2B5EF4-FFF2-40B4-BE49-F238E27FC236}">
                <a16:creationId xmlns:a16="http://schemas.microsoft.com/office/drawing/2014/main" id="{0A88A81D-DCA6-4DF7-9E4C-AEE141E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0300"/>
            <a:ext cx="13843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管理后台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ADEEF337-891E-4BC9-A684-6FAD98C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200" y="48387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AutoShape 60">
            <a:extLst xmlns:a="http://schemas.openxmlformats.org/drawingml/2006/main">
              <a:ext uri="{FF2B5EF4-FFF2-40B4-BE49-F238E27FC236}">
                <a16:creationId xmlns:a16="http://schemas.microsoft.com/office/drawing/2014/main" id="{20CEA55A-AA66-473C-80B3-D00110A2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800" y="49403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看板、车场、车位、订单、统计</a:t>
            </a:r>
          </a:p>
        </p:txBody>
      </p:sp>
      <p:sp>
        <p:nvSpPr>
          <p:cNvPr id="61" name="AutoShape 61">
            <a:extLst xmlns:a="http://schemas.openxmlformats.org/drawingml/2006/main">
              <a:ext uri="{FF2B5EF4-FFF2-40B4-BE49-F238E27FC236}">
                <a16:creationId xmlns:a16="http://schemas.microsoft.com/office/drawing/2014/main" id="{96DB512C-2861-479A-A05B-AE04D1BC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4838700"/>
            <a:ext cx="31496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AutoShape 62">
            <a:extLst xmlns:a="http://schemas.openxmlformats.org/drawingml/2006/main">
              <a:ext uri="{FF2B5EF4-FFF2-40B4-BE49-F238E27FC236}">
                <a16:creationId xmlns:a16="http://schemas.microsoft.com/office/drawing/2014/main" id="{B5B66FD2-D31A-48EC-BD7C-07D02D3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4940300"/>
            <a:ext cx="29591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AdminLayout</a:t>
            </a:r>
          </a:p>
        </p:txBody>
      </p:sp>
      <p:sp>
        <p:nvSpPr>
          <p:cNvPr id="63" name="AutoShape 63">
            <a:extLst xmlns:a="http://schemas.openxmlformats.org/drawingml/2006/main">
              <a:ext uri="{FF2B5EF4-FFF2-40B4-BE49-F238E27FC236}">
                <a16:creationId xmlns:a16="http://schemas.microsoft.com/office/drawing/2014/main" id="{AB6F4D26-236A-44ED-9C15-8DCAEFE6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4838700"/>
            <a:ext cx="2857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AutoShape 64">
            <a:extLst xmlns:a="http://schemas.openxmlformats.org/drawingml/2006/main">
              <a:ext uri="{FF2B5EF4-FFF2-40B4-BE49-F238E27FC236}">
                <a16:creationId xmlns:a16="http://schemas.microsoft.com/office/drawing/2014/main" id="{BE2D332B-AF52-4963-9177-5EEEF45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300" y="4940300"/>
            <a:ext cx="2667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admin / analytics</a:t>
            </a:r>
          </a:p>
        </p:txBody>
      </p:sp>
      <p:sp>
        <p:nvSpPr>
          <p:cNvPr id="65" name="AutoShape 65">
            <a:extLst xmlns:a="http://schemas.openxmlformats.org/drawingml/2006/main">
              <a:ext uri="{FF2B5EF4-FFF2-40B4-BE49-F238E27FC236}">
                <a16:creationId xmlns:a16="http://schemas.microsoft.com/office/drawing/2014/main" id="{838B6C12-58BD-4D2E-8ED6-98C7AD5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AutoShape 66">
            <a:extLst xmlns:a="http://schemas.openxmlformats.org/drawingml/2006/main">
              <a:ext uri="{FF2B5EF4-FFF2-40B4-BE49-F238E27FC236}">
                <a16:creationId xmlns:a16="http://schemas.microsoft.com/office/drawing/2014/main" id="{3A9A21FF-62B8-41A8-9502-58EE4D43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功能总览</a:t>
            </a:r>
          </a:p>
        </p:txBody>
      </p:sp>
      <p:sp>
        <p:nvSpPr>
          <p:cNvPr id="67" name="AutoShape 67">
            <a:extLst xmlns:a="http://schemas.openxmlformats.org/drawingml/2006/main">
              <a:ext uri="{FF2B5EF4-FFF2-40B4-BE49-F238E27FC236}">
                <a16:creationId xmlns:a16="http://schemas.microsoft.com/office/drawing/2014/main" id="{3C40042F-9334-4969-AECC-437490F7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55162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A8B6836-F3A2-4BF2-8D98-98FE607D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B019696-08C4-4AAF-BC62-343EA94F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0A73D78-B410-491F-86AF-3761871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E0D739E-67EF-4F5D-BA0E-F56B14F9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334FC8A-BC94-4587-8674-D170E98F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城市停车一张图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88A625E-7E1F-4C5B-B137-CBE3507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首页地图围绕目的地推荐可用停车地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6C7711F-C23A-402C-99D6-0BAD5F1F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用户输入目的地后，系统定位目标并检索周边停车场；系统内车场支持预约，高德 POI 支持导航。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DB19C88-22AB-4D75-90DD-A3A9AB3B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BEF018A-6D84-4E83-A1E0-2F9C15CE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2095500"/>
            <a:ext cx="6997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搜索栏输入目的地，支持商圈、交通枢纽、地标等多类目标检索。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B874E10-588C-4640-9BAF-7BCA0CF1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10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0DD57FC-FB30-4C4B-B1CB-1C6FBF3D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2844800"/>
            <a:ext cx="6997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基于高德 PlaceSearch 精准定位，地图实时锚定用户“目标点”。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1B3A7B2-A0F8-424D-B4D8-8499CDA5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30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56593B4-6D27-4B07-8B0B-DB8CF36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3606800"/>
            <a:ext cx="6997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周边停车场以 POI 形式聚合展示，点击即可展开详情与操作窗。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0458CBD-D5B3-4455-A63E-0DA73D45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50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4DA33F2-80F7-4682-8B67-02ED4B10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4368800"/>
            <a:ext cx="6997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自有车场支持一键预约锁定车位，第三方 POI 支持直接发起导航。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E927346-DDCD-4A46-8AC3-28931680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9000"/>
            <a:ext cx="2235200" cy="2717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0EF3E0EC-A326-47BA-A0AA-4AE3CB7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40000"/>
            <a:ext cx="1625600" cy="457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5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MAP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DABB4994-5984-45A8-8BAD-959DED68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3238500"/>
            <a:ext cx="1435100" cy="3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852F2B24-82EA-446F-98D4-BF3205C7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556000"/>
            <a:ext cx="1663700" cy="1143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6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目标精准锚定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6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车位实时可视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6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信息一键触达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6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导航无缝衔接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95A19876-90A4-43CE-83DC-173E5426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3824C9A-BE40-4B21-B641-B160A033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城市停车一张图 · 智能出行新体验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C2CF4627-0C1F-4F32-9C3A-59706B18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24" name="screenshot-placeholder-首页地图 / 目的地搜索">
            <a:extLst xmlns:a="http://schemas.openxmlformats.org/drawingml/2006/main">
              <a:ext uri="{FF2B5EF4-FFF2-40B4-BE49-F238E27FC236}">
                <a16:creationId xmlns:a16="http://schemas.microsoft.com/office/drawing/2014/main" id="{D50E46A7-85D1-4578-9802-3AB133B4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57400"/>
            <a:ext cx="2724150" cy="30670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待插入项目截图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42A839-E3E2-4B8F-B9CA-94ECE316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194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首页地图 / 目的地搜索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764C6-3DA8-4532-9F5A-4A3441AC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814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建议截图：搜索目的地后，右侧推荐列表与地图标记同时出现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0D5D2E-79FD-46F1-91A9-11A60491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57800"/>
            <a:ext cx="22288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占位框仅用于后续插入真实截图</a:t>
            </a:r>
          </a:p>
        </p:txBody>
      </p:sp>
    </p:spTree>
    <p:extLst>
      <p:ext uri="{BB962C8B-B14F-4D97-AF65-F5344CB8AC3E}">
        <p14:creationId xmlns:p14="http://schemas.microsoft.com/office/powerpoint/2010/main" val="9432741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151D6A4-6BB7-454B-B80B-6605DA33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9207D45-3F3E-487E-B4BF-A101141D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3A17D4A-31CD-494D-8645-483931F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BE7FDCB-BC26-4E83-9EB2-21D53BA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230694F-FA76-49E1-B7D3-70A603A3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本地评分推荐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A34FEA9-36DB-463B-85C9-7534D9F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本地评分推荐，让停车决策更可解释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DA5E2D4-9525-4EDD-8C3C-3B93530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移除 DeepSeek 后不依赖外部密钥，仍按距离、价格和空位计算综合推荐。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8674175-6C36-478B-A7BC-715F31F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FE50612-2860-4A94-ABB4-8FDF2E64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AI本地评分推荐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B465ECE-F524-45A0-B1D7-4DFF92E6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DF6757F-1C96-4B0D-B22C-4D137D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" y="2171700"/>
            <a:ext cx="863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距离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DC6A713-EE65-4841-AF67-E14539E8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600" y="2197100"/>
            <a:ext cx="1816100" cy="2921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越近得分越高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11A926D-2B6C-47B2-92FE-1D29E75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197100"/>
            <a:ext cx="53340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8BA0025-FE30-4D34-A7FC-01279161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197100"/>
            <a:ext cx="22352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02A0D5C-582E-47BE-9D72-9FD37A4B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146300"/>
            <a:ext cx="86360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23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42%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1F28C3A4-3FE8-4432-8269-B34C9C7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" y="3073400"/>
            <a:ext cx="863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价格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C97E00D-B609-4D95-822F-88154221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600" y="3098800"/>
            <a:ext cx="1816100" cy="2921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越低得分越高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8F8D3AE5-8030-4960-B678-ABEE389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111500"/>
            <a:ext cx="53340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D48B5779-1537-47EE-AF28-21D58F9C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111500"/>
            <a:ext cx="14986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A0708139-58DD-4217-B889-29B2863D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048000"/>
            <a:ext cx="86360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23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28%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7DED89FA-D576-4AA4-B5B1-D095ECFA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" y="3987800"/>
            <a:ext cx="863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空位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39211DE4-152A-4171-BFE2-7A26C97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600" y="4000500"/>
            <a:ext cx="1816100" cy="2921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剩余越多得分越高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35BC598-DCB6-4AC6-9D0A-4521545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013200"/>
            <a:ext cx="53340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83A57DD2-0920-4C9F-846C-3240AD86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4013200"/>
            <a:ext cx="1600200" cy="292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6523DF5F-FAE4-4A55-89D1-6258F33C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949700"/>
            <a:ext cx="86360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23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30%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B71C260C-21A1-4410-8BA5-2B07B36B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4953000"/>
            <a:ext cx="94361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F7A008A5-721C-4603-8457-5BA80EA5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300" y="4953000"/>
            <a:ext cx="94361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993C6A63-1A00-4EC5-BCAB-9B544310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168900"/>
            <a:ext cx="90170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推荐公式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C7752971-B540-4234-A9B2-50ECDB71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562600"/>
            <a:ext cx="90170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25400" rIns="88900" bIns="254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综合评分 = 距离得分 × 42% + 价格得分 × 28% + 空位得分 × 30%。列表将实时重排，目的地变化或POI信息更新后自动刷新推荐结果。</a:t>
            </a:r>
          </a:p>
        </p:txBody>
      </p:sp>
    </p:spTree>
    <p:extLst>
      <p:ext uri="{BB962C8B-B14F-4D97-AF65-F5344CB8AC3E}">
        <p14:creationId xmlns:p14="http://schemas.microsoft.com/office/powerpoint/2010/main" val="207482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0A3500D-3098-423A-B44D-63324466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D598187-D5CF-4ABF-9842-46DA0573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0F5BCF2-6046-40F7-AABA-14EAE16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A5BC665-F8A6-4356-B4A9-E947200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33B8ABF-D5C6-4706-92BE-C2E42D25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预约状态机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0F13EE8-2C11-4D5B-BD60-1BE01E1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预约流程会锁定车位，也会按规则释放车位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64F88B6-7CE7-4E4E-992B-EEB7B24B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预约不再只是写入记录，而是与车位库存和订单状态联动。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1B2DCC8-4CDE-4108-AAE7-6264870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64BE70E-3191-4D53-952E-A47543A4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预约状态机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EFE7FCE-1CF1-4123-818A-AB8A1B9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42518047-B6B9-4A6C-8D39-E6C25611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5200"/>
            <a:ext cx="189230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DBC288B-3CAB-45CD-BBFC-EF8428B5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9500"/>
            <a:ext cx="16637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F0D3621-5629-4A33-AC86-DFB98674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03500"/>
            <a:ext cx="166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可用车位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CFB82A3-7EE9-49E8-9CB3-F09E499A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9600" y="2235200"/>
            <a:ext cx="189230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2418540-95FA-4D65-BD6B-18831998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900" y="2349500"/>
            <a:ext cx="16637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DD27C728-9FF3-4D3A-8D53-0A0EB4A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3900" y="2603500"/>
            <a:ext cx="166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创建预约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91F1B97-B7B0-4830-A4B6-094075C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35200"/>
            <a:ext cx="189230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16D63F7-4F6A-4E95-B201-BB053C59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349500"/>
            <a:ext cx="16637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DA45916A-1E66-4748-9ACE-765F6BD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603500"/>
            <a:ext cx="166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锁定15分钟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C8A5E232-FC02-4703-B0A2-1F2000F7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100" y="2235200"/>
            <a:ext cx="189230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CBF27E2C-13D3-4C7D-93A0-57071C57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349500"/>
            <a:ext cx="16637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2C63F896-1191-4401-84AF-1F86EA9B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4400" y="2603500"/>
            <a:ext cx="166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到场确认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CBD6DDDA-3458-46C7-96A4-A66E9D59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00" y="2235200"/>
            <a:ext cx="1892300" cy="914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13085909-ACD5-40B4-838E-1BCB222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349500"/>
            <a:ext cx="16637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35C45C3A-7DD7-497D-86DB-2EB6F271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2603500"/>
            <a:ext cx="16637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创建订单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70E1B068-904C-401A-B2CA-8CB4316D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92600" cy="1244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B9C2E61D-3053-4E88-80C3-77171641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2926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3A03CAFF-5285-421E-AE05-3C48F562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0" y="4216400"/>
            <a:ext cx="3873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取消规则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6FE383CD-F10A-4F37-80D8-7A1F457F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900" y="4635500"/>
            <a:ext cx="3873500" cy="457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未确认预约可随时取消，系统将立即释放锁定的车位资源，防止车位被长期占用导致浪费。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ACE86AA7-EEC3-4875-BBE3-2451CC4F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000500"/>
            <a:ext cx="4292600" cy="1244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2E6F67D2-4968-4B1F-B72F-4F94541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000500"/>
            <a:ext cx="42926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EE307249-6F11-49FB-ABAE-9D96560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6400"/>
            <a:ext cx="38735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过期规则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6337EE26-4481-4805-8023-A89291A0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35500"/>
            <a:ext cx="3873500" cy="457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若预约超过设定的有效时间仍未确认到场，系统将自动触发释放逻辑，车位状态恢复为可用，保障资源流转。</a:t>
            </a:r>
          </a:p>
        </p:txBody>
      </p:sp>
    </p:spTree>
    <p:extLst>
      <p:ext uri="{BB962C8B-B14F-4D97-AF65-F5344CB8AC3E}">
        <p14:creationId xmlns:p14="http://schemas.microsoft.com/office/powerpoint/2010/main" val="8877166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E997242-17C5-487E-ABFF-2AB4E62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79D172F-B73B-4E9E-AADA-75EE6DD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4F903E2-0129-4DAB-9BF9-35C65E8C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39933FE-5FAE-4935-A763-7E517914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265A229-9CFE-46A4-B2C3-17EF3109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车牌识别与计费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E6B2A80-CD14-4DA0-9C9D-F53C277D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模拟入出场把设备事件转化为订单状态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EED2E8F-24DA-4E17-946D-B09E164D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通过模拟入出场事件演示车牌识别、计费和支付状态流转。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F9A6975-BA00-4338-80F8-8332EF6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146300"/>
            <a:ext cx="31877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C7ACD0B-19A9-487A-A6F0-0A65C5F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" y="2146300"/>
            <a:ext cx="31877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3CBFC73-AFCA-499F-936C-BF3A47BD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9500"/>
            <a:ext cx="27686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模拟入场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AC0D7E1-85AE-4D58-BF35-54D528D1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8600"/>
            <a:ext cx="27686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选择系统内目标车场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输入或关联用户车牌号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自动校验车辆重复入场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生成Active订单并锁定车位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CF4DA25-A7A3-4C1C-9BDD-0481F0F3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6300"/>
            <a:ext cx="31877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FA881B2-B6BA-4FF7-B021-8A297EA1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46300"/>
            <a:ext cx="31877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2E69BC74-8607-4BEF-8CED-3B9F0898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00" y="2349500"/>
            <a:ext cx="27686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模拟出场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E3EE7E66-9338-4A33-A114-A63F3A39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700" y="2768600"/>
            <a:ext cx="27686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自动检索未结算入场订单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写入出场时间并计算时长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按费率自动核算停车费用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订单流转至待支付状态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1840CA-BD84-40FB-8280-C3747029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146300"/>
            <a:ext cx="3187700" cy="2578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D2065DC0-A3A9-4ECD-8395-6BAFEF5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2146300"/>
            <a:ext cx="31877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A5FB92D0-2251-491A-BF73-9DAC5C36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9500"/>
            <a:ext cx="27686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支付离场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6E10C86-DF28-4C67-AA79-A961C0DD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68600"/>
            <a:ext cx="2768600" cy="1790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完成支付后订单更新为Paid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系统自动释放已占用车位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全链路停车记录同步至用户端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支付后释放车位并归档记录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4E73C70-5EFC-4FFE-AEB5-8102B343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E80E8D91-96F2-49E6-BB50-C3EB51D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车牌识别与计费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56524E42-5BF2-4A07-9B64-A5ED6E8E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24" name="screenshot-placeholder-入场 / 出场 / 待支付订单截图">
            <a:extLst xmlns:a="http://schemas.openxmlformats.org/drawingml/2006/main">
              <a:ext uri="{FF2B5EF4-FFF2-40B4-BE49-F238E27FC236}">
                <a16:creationId xmlns:a16="http://schemas.microsoft.com/office/drawing/2014/main" id="{5AEFE029-D757-4D7D-85B7-120D1B88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19650"/>
            <a:ext cx="10172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F9731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97316"/>
                </a:solidFill>
              </a:defRPr>
            </a:pPr>
            <a:r>
              <a:rPr sz="1800" b="1">
                <a:solidFill>
                  <a:srgbClr val="F97316"/>
                </a:solidFill>
              </a:rPr>
              <a:t>待插入项目截图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063F02-B1A7-4E8A-AD2D-8E64CAF4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入场 / 出场 / 待支付订单截图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B26C0-C620-446D-AB33-EDE62ECD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3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建议截图：模拟入场生成停车中订单，模拟出场后订单进入待支付状态</a:t>
            </a:r>
          </a:p>
        </p:txBody>
      </p:sp>
    </p:spTree>
    <p:extLst>
      <p:ext uri="{BB962C8B-B14F-4D97-AF65-F5344CB8AC3E}">
        <p14:creationId xmlns:p14="http://schemas.microsoft.com/office/powerpoint/2010/main" val="14589050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0B21D4B-0882-42E8-BDDB-3EAF370F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E8A5060-91D3-4A38-8E24-F3012945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282A9B-55D4-4913-AA15-09DC00EF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54F081A-BD52-49B7-88CC-47D9150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EDB65F2-B46E-496E-B395-773B87C7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C8A6C6B-D4AF-4FC4-AA3B-4AFCDAD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寻车功能已接入停车中订单查询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8798659-1DF4-4D3C-872D-7BA23D9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系统根据当前停车订单返回车场、车位和建议路线。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9880291-8149-445C-9933-382BED8E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4B3CE31-8A41-46A8-B08B-63B7ADE6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0EDE514-B2D3-4081-9DE2-A0A268B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4D47558-1D91-45BA-8B08-CD4BCB85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C8CE17A-AB71-4354-9640-86BA2CB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095500"/>
            <a:ext cx="71882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主动展示当前仍在场车辆，无需用户手动输入订单号。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540895A-82C3-46CD-97E6-BC8F803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24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D115830-437C-45CC-B03D-C683508C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2616200"/>
            <a:ext cx="71882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支持车牌号模糊查询，快速定位活跃订单及车位详情。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58F6C28-2B4B-4D59-A71C-B5B105BF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60F706C-A146-4F0D-9E7A-6000F1E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3124200"/>
            <a:ext cx="71882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返回车场名称、车位编号、所属区域和可讲解的寻车步骤。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FA6A100D-F7F5-41E0-9AE9-D6BFC9ED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11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A632D4D-DDBF-4A1F-8150-5C144E30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" y="3644900"/>
            <a:ext cx="71882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与模拟入场功能实时联动，保障演示数据真实且来源一致。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C4F1DAA0-9E65-4A2D-A423-E576C7A1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2336800"/>
            <a:ext cx="20955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F5C4A2D0-4A64-4983-B993-48FC9645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25019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P 位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B56F8C91-E48E-4FE6-9C36-02AC8A9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3060700"/>
            <a:ext cx="17526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当前停车位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F6958DAE-172C-4A45-905A-724D1AA3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2700" y="3759200"/>
            <a:ext cx="20955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4A9F10A3-51C1-4AFC-863B-0ED32434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3200" y="39370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路线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1B835AE0-A84B-4296-B124-E443303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4483100"/>
            <a:ext cx="17526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寻车步骤</a:t>
            </a:r>
          </a:p>
        </p:txBody>
      </p:sp>
      <p:sp>
        <p:nvSpPr>
          <p:cNvPr id="26" name="screenshot-placeholder-反向寻车结果页">
            <a:extLst xmlns:a="http://schemas.openxmlformats.org/drawingml/2006/main">
              <a:ext uri="{FF2B5EF4-FFF2-40B4-BE49-F238E27FC236}">
                <a16:creationId xmlns:a16="http://schemas.microsoft.com/office/drawing/2014/main" id="{7118D8D3-2D1C-422F-9E89-86FD30F8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514600" cy="29908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34A"/>
                </a:solidFill>
              </a:defRPr>
            </a:pPr>
            <a:r>
              <a:rPr sz="1800" b="1">
                <a:solidFill>
                  <a:srgbClr val="16A34A"/>
                </a:solidFill>
              </a:rPr>
              <a:t>待插入项目截图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DF9B7-743F-4E97-B213-5460FE0D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385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反向寻车结果页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CA80DA-2038-43A8-B365-79AE24B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00475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建议截图：停车中车辆、车位编号、区域楼层和寻车步骤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6E24C-97BD-4E91-A867-F5C5FED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38750"/>
            <a:ext cx="22479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截图补入后可作为现场验收证据</a:t>
            </a:r>
          </a:p>
        </p:txBody>
      </p:sp>
    </p:spTree>
    <p:extLst>
      <p:ext uri="{BB962C8B-B14F-4D97-AF65-F5344CB8AC3E}">
        <p14:creationId xmlns:p14="http://schemas.microsoft.com/office/powerpoint/2010/main" val="15194292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0C3A2A2-2913-40DF-9775-31EE4FB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F2DD72F-D0C8-48BF-A66E-1B6167F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AEAEB0-AD42-427B-B4A0-E3AE436D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C303BD9-D7F2-4BC1-A7A1-F651C0A3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429D585-B290-4B8B-8C19-189C504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功能模块概览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95931B6-765D-4AED-80AD-580A267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订单、停车记录和个人中心让车主流程更完整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2849DA6-A4AE-4EB6-B698-BBA9618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车主不仅能停车，还能回看和管理自己的停车数据，实现全流程自主掌控。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AF36BD9-9DC5-4F0F-A437-6A16FF0A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B63E485-95F1-4925-A2DE-D04F2AEA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车主服务体系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A41527A-D376-44DA-8C54-2B3F764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6070D2C-1DDC-46D6-8D88-6B4CB9E2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2146300"/>
            <a:ext cx="3048000" cy="247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00A94D1B-75F0-4662-B1F8-E6E8056E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2146300"/>
            <a:ext cx="3048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9DC3084-8C21-44DB-8D6A-D89DBDAB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349500"/>
            <a:ext cx="26289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01 / 我的订单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AA9EE0E-18CB-40AC-A705-A3F15AED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2768600"/>
            <a:ext cx="2628900" cy="1701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实时查看当前进行中的停车订单状态，随时掌握停车时长与费用明细，支持在线快捷结算与支付，支付完成后自动同步更新订单状态，无需人工干预。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12984390-55AF-478A-AFDD-96A7B584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6300"/>
            <a:ext cx="3048000" cy="247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BB6CAE26-AD87-4292-901F-46C99D4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6300"/>
            <a:ext cx="3048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2A5383A6-8492-4877-80CD-5D384E72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00" y="2349500"/>
            <a:ext cx="26289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02 / 停车记录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25A50628-33DB-4C1D-AA6B-7918ADE9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900" y="2768600"/>
            <a:ext cx="2628900" cy="1701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清晰展示历史停车全记录，精准追溯每一次的入场与出场时间，同时关联显示当次停车的消费金额与所属车场信息，方便车主对账与行程回顾。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AAE3DAE-6B30-4233-B168-8BBA0FB6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146300"/>
            <a:ext cx="3048000" cy="247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9CA9CD3-058C-4C73-A945-CF128137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300" y="2146300"/>
            <a:ext cx="3048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50BB5E34-59F6-4E9F-B098-6A1ACA4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2349500"/>
            <a:ext cx="26289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03 / 个人中心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CC417AA8-84AD-4D53-B4B8-E0C560B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2768600"/>
            <a:ext cx="2628900" cy="1701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支持手机号信息的安全维护与变更，可添加并管理多个车牌号码，绑定后的车牌可直接用于车场预约、无感支付以及智能寻车等核心功能。</a:t>
            </a:r>
          </a:p>
        </p:txBody>
      </p:sp>
    </p:spTree>
    <p:extLst>
      <p:ext uri="{BB962C8B-B14F-4D97-AF65-F5344CB8AC3E}">
        <p14:creationId xmlns:p14="http://schemas.microsoft.com/office/powerpoint/2010/main" val="2630236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757CB58-4FA1-42A7-8665-7AEAF7E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92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01C671-AB44-4BC3-9350-3734176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0"/>
            <a:ext cx="9017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67CD3EB-EE18-4DE9-ABEF-BCC1C9FA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03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6D43331-23D4-4836-8A5B-22ABF0B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6100"/>
            <a:ext cx="7239000" cy="1333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技术架构与数据状态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C7E1D20-D663-4A16-A47A-E9F4271D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7600"/>
            <a:ext cx="4864100" cy="1143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D8EAFE"/>
                </a:solidFill>
                <a:latin typeface="Calibri"/>
                <a:ea typeface="Calibri"/>
                <a:cs typeface="Calibri"/>
              </a:rPr>
              <a:t>解析前后端分离架构设计，集成地图API实现精准定位，规范订单状态流转逻辑，保障多端数据的最终一致性与系统高可用性。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490A171-C946-44A9-BD8F-E72453D5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100" y="5905500"/>
            <a:ext cx="863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17617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DE06EEB-8C14-4B54-A002-CA7FF78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D1FF077-95A3-4CB2-AFAD-C71FC740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85B73DC-D7D7-4E9E-A604-BF02825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A40B3CC-E5EB-4AC1-92A9-ECC4C9A3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0E2FBB8-E971-49B4-A2E4-F567845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系统架构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6BBF728-E7C1-41CF-91E4-DA08DAA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前端地图交互通过 API 驱动后端状态流转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FD465FE-2B2D-4812-B343-64E4D6EC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Vue 负责体验和地图，FastAPI 负责业务规则，SQLite 保存演示数据。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932638F-7495-4674-BE87-1C22E36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A5A1D2F-FCCA-4506-BEA5-7F48F62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系统架构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BDA1AD6-4372-470A-A1AD-3A1C5993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E791D23-A330-4B82-9504-68A5307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" y="2235200"/>
            <a:ext cx="2286000" cy="2006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DB79789-126A-434A-BBF8-1D6C0891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501900"/>
            <a:ext cx="18669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用户界面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35463BD9-B302-47E6-BE62-3A5DB51E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048000"/>
            <a:ext cx="1866900" cy="787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Vue3 + Element Plus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Home · Orders · FindCar · Admin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832C89C7-DE35-4708-A0B9-801F94BC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3048000"/>
            <a:ext cx="457200" cy="381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6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485A6AB-947A-44AD-86BC-686DB12A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400" y="2235200"/>
            <a:ext cx="2286000" cy="2006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3806ED33-A68E-4921-949A-1FEE097E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2501900"/>
            <a:ext cx="18669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地图服务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768DC86B-27BA-483F-A174-D053316B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300" y="3048000"/>
            <a:ext cx="1866900" cy="787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高德 JS API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目的地 · POI · 导航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996AED7C-A5E1-4B29-BA1A-DDA7830C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48000"/>
            <a:ext cx="457200" cy="381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6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C3750F6-6455-4648-A265-090CB29C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235200"/>
            <a:ext cx="2286000" cy="2006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E7F39E5-0660-47DB-B374-7ABF5CB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2501900"/>
            <a:ext cx="18669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业务服务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A763B62-D97F-4DC2-BD7A-A646D6AA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3048000"/>
            <a:ext cx="1866900" cy="787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FastAPI Routers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auth · lots · reservations · orders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F22E0F4E-12A5-471D-A6DE-5729813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3048000"/>
            <a:ext cx="457200" cy="381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6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1E4E8BFC-81C2-421B-A0B9-6770BDCD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2235200"/>
            <a:ext cx="2286000" cy="2006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6C31420A-0DC7-4F65-BCF4-6CA6211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2501900"/>
            <a:ext cx="18669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数据持久化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E1532D9-BF56-42E1-BD62-025D1BCD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048000"/>
            <a:ext cx="1866900" cy="787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SQLAlchemy + SQLite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4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用户 · 车场 · 预约 · 订单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89D6EA04-0D56-468F-9210-475F5603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64100"/>
            <a:ext cx="9906000" cy="762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关键设计：高德 POI 负责真实地图点位，系统内车场负责可预约、可计费、可统计的业务状态。</a:t>
            </a:r>
          </a:p>
        </p:txBody>
      </p:sp>
    </p:spTree>
    <p:extLst>
      <p:ext uri="{BB962C8B-B14F-4D97-AF65-F5344CB8AC3E}">
        <p14:creationId xmlns:p14="http://schemas.microsoft.com/office/powerpoint/2010/main" val="7229229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01F2D1E-5CE0-48FC-B8CC-8C393EB9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41F7943-9493-4833-AD06-F13F3132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D4ABB24-2463-4DAE-9D82-B5D33A13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E8AFE02-91BE-4B9A-B703-BD4930D9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0485759-DCAB-40F5-B0C0-B79D4A38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核心数据模型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1E7F393-EC1C-4BD0-ABDC-4578C574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停车闭环由用户、车场、车位、预约和订单共同维护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810DFD5-9A44-45D3-A1AB-DC61301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这些实体对应后端模型和接口，是演示数据一致性的基础。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D5D42E3-0BCC-4D28-8D26-A8EE3C08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19558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122629E-260A-44C2-8164-AD30D8C6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47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实体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1002F34-C4F4-4A81-8C65-D50D8D65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955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7FF6821-A118-409A-8525-F87F38D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20447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关键字段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E4E7315-ABDB-45E9-9664-A12AE1B5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55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55A589C-CB54-440F-B9CC-9A9A7A8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20447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业务作用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2BFAC55-9BDC-4C0D-B080-E586D84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55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50B94B9-4283-497F-B439-DCAE1A64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20447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联动关系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FA450B16-6269-4CE2-A23D-3A32C5CD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24638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3D7FEAF-7D12-42E2-8A74-F869A34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54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User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C41A756-55F1-4B80-885B-B590910F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63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8C9DEFF3-5EC9-4CA8-BFB0-78D61B56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2565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username, role, plate_numbers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B473D2D-2FFB-403B-B9BF-E93A10B1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63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D0A8812-9867-41C5-BE45-5E88B88B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2565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区分普通用户和管理员身份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CDD49461-3D1D-4056-B217-12BA7B74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638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2141223F-1278-491F-A502-803BA2DC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2565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作为预约与订单的归属主体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C49D7261-CAF7-4E4B-B3E9-B4BB2C3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29845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FA2970A-8072-4268-AA11-3E73978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34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ParkingLot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BD40758F-8240-467C-9BED-716EFE4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84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2BCEAA53-DDC7-418D-AD02-2763E27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3073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name, lat/lng, available_spots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9F419766-836F-4B23-A325-057F3957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84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7095866D-EF94-4C5D-ACCB-0BD7333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073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车场信息展示、距离排序与推荐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242841CA-818B-4E2F-B113-2F8DA6C2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84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E7F803C7-A280-490B-BEF0-B281BD1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30734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包含多个车位，关联车位状态统计</a:t>
            </a: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35A72441-8FB7-4574-AB08-349B4C89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34925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CA66A2A5-C87B-45F7-9BC7-2A6D3695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941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ParkingSpot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0432F347-2823-4F98-8D25-6DD47BA4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92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02D31E79-1D1C-4477-9080-0EEFF99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3594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spot_number, status, type</a:t>
            </a: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DFDE7FD1-0C15-4537-83B3-D92D2A1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92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A9E6BD0F-A1C9-428A-8CCD-FC36D4B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594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记录具体车位的实时占用状态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888F59BA-5989-4960-8635-89FB42A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25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F08892D7-BBA9-457F-9660-C599CAF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3594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预约和订单直接关联具体车位</a:t>
            </a: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0EE30777-3F3F-4F61-ADAA-FBA2E1B2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40132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C510663E-DB2B-484D-8AB8-9EC3671F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21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Reservation</a:t>
            </a: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4557A0D1-6AD5-4885-899E-8B3BEE5A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3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B088C5A6-36E5-429E-900C-1A8CC482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4102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status, expires_at, confirmed_at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256CB95D-EEAA-4DF1-AB2F-1FA04E6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3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0622BFB8-A289-4473-876E-81F47CF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4102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锁定车位资源，确认用户到场情况</a:t>
            </a: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067DF9BA-6C39-4D64-B12C-48046412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3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B89D031C-F73B-47B0-BB34-225ED98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41021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确认后自动生成停车订单</a:t>
            </a: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E875E33B-CAF8-4BB5-AE16-111DCF89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4521200"/>
            <a:ext cx="18161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46D883B-6F3B-4F97-82D2-EC6F0507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2800"/>
            <a:ext cx="1625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ParkingOrder</a:t>
            </a:r>
          </a:p>
        </p:txBody>
      </p:sp>
      <p:sp>
        <p:nvSpPr>
          <p:cNvPr id="51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88997D73-7051-4692-88D8-67D6DDA4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21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9F671E6B-771E-4CAF-948F-ACB1B6B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300" y="46228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entry_time, exit_time, amount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B934A71F-FB69-42C5-A7E7-E624736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21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AutoShape 54">
            <a:extLst xmlns:a="http://schemas.openxmlformats.org/drawingml/2006/main">
              <a:ext uri="{FF2B5EF4-FFF2-40B4-BE49-F238E27FC236}">
                <a16:creationId xmlns:a16="http://schemas.microsoft.com/office/drawing/2014/main" id="{3F0FDAD1-F752-4E22-8AE7-FA17A4C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46228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记录入出场时间、计费与支付</a:t>
            </a:r>
          </a:p>
        </p:txBody>
      </p:sp>
      <p:sp>
        <p:nvSpPr>
          <p:cNvPr id="55" name="AutoShape 55">
            <a:extLst xmlns:a="http://schemas.openxmlformats.org/drawingml/2006/main">
              <a:ext uri="{FF2B5EF4-FFF2-40B4-BE49-F238E27FC236}">
                <a16:creationId xmlns:a16="http://schemas.microsoft.com/office/drawing/2014/main" id="{54B1C4B1-EF79-4FE1-A5EF-62D9F78D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21200"/>
            <a:ext cx="2857500" cy="520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AutoShape 56">
            <a:extLst xmlns:a="http://schemas.openxmlformats.org/drawingml/2006/main">
              <a:ext uri="{FF2B5EF4-FFF2-40B4-BE49-F238E27FC236}">
                <a16:creationId xmlns:a16="http://schemas.microsoft.com/office/drawing/2014/main" id="{2F718156-8E72-45AF-8C12-844E4073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9300" y="4622800"/>
            <a:ext cx="26670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支付完成后归档为停车记录</a:t>
            </a:r>
          </a:p>
        </p:txBody>
      </p:sp>
      <p:sp>
        <p:nvSpPr>
          <p:cNvPr id="57" name="AutoShape 57">
            <a:extLst xmlns:a="http://schemas.openxmlformats.org/drawingml/2006/main">
              <a:ext uri="{FF2B5EF4-FFF2-40B4-BE49-F238E27FC236}">
                <a16:creationId xmlns:a16="http://schemas.microsoft.com/office/drawing/2014/main" id="{923C26C0-AF46-4AB1-A945-77BF4617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AutoShape 58">
            <a:extLst xmlns:a="http://schemas.openxmlformats.org/drawingml/2006/main">
              <a:ext uri="{FF2B5EF4-FFF2-40B4-BE49-F238E27FC236}">
                <a16:creationId xmlns:a16="http://schemas.microsoft.com/office/drawing/2014/main" id="{8B6B8643-E0AB-40BF-9F0D-D8C6E1AE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核心数据模型</a:t>
            </a:r>
          </a:p>
        </p:txBody>
      </p:sp>
      <p:sp>
        <p:nvSpPr>
          <p:cNvPr id="59" name="AutoShape 59">
            <a:extLst xmlns:a="http://schemas.openxmlformats.org/drawingml/2006/main">
              <a:ext uri="{FF2B5EF4-FFF2-40B4-BE49-F238E27FC236}">
                <a16:creationId xmlns:a16="http://schemas.microsoft.com/office/drawing/2014/main" id="{EB86FA0C-9A7D-4404-A59C-7669A806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78756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C2570AC-9F40-4276-AA14-A1E13DC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739C1B6-9636-4E6E-B507-9691A881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BD6F81C-7C18-49BC-8F21-32569482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55425B1-F945-4732-82F7-3E76BE22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2709B2A-F66B-4979-AA8A-6CEB2076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后端 API 架构设计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9312FED-F409-466E-B130-419DD73E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FastAPI 按业务边界组织路由，接口清晰可验收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2920CFE-7644-4E2A-B5BF-4036C276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打开 /docs 路径即可查看自动生成的交互式接口文档，参数与返回值一目了然。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27E7326-7FC9-441E-9135-25AF9ABA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2A5B897-00E9-4512-9839-0E1899A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SmartPark V3 后端验收标准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3F04478-2B7A-4AA2-AD48-FE3233F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DF70351-908E-4FFD-8E5F-0FB68785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66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45EBED2-8C84-4B1F-90DD-5358F081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20955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业务路由模块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1188A13-73AE-4933-9F07-C7667898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066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A8D6ACF-59EE-4975-94D8-7121C02F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20955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核心接口能力范围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8DCA3C8-1D20-4840-BFB5-DE23898C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20066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100F714-63CF-45E7-B0CA-3CA83792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验收与业务价值说明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1A6B712-6863-43C4-AF59-CF9389B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244ADEF5-9315-443A-8F11-B4713E54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25781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auth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495BB25-82CE-4E21-B0E9-30897E3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201F44B-A96A-4D28-93ED-A54DE7B7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25781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用户注册、登录认证、信息查询与修改</a:t>
            </a: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C0353160-9DE0-4BB9-8F02-EB7929B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24765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1712AC7F-7F8C-4003-B26C-CFC19BB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81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提供基于 JWT 的统一鉴权基础，保障系统访问安全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64DBBFFD-107D-49BF-9514-9EB412A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91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380C207-58BD-4246-989D-F4C7219C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30480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lots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3A12AD48-6620-451B-A06E-EC3BC5C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591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E953F8F2-EB56-4B16-A5D7-D83F6A2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0480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车场列表、详情展示、智能排序、附近车场检索</a:t>
            </a: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AFBB2DCF-A341-4B4C-A552-0B63D3F9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29591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67A39CB-F1F5-42BD-BED4-AFBF313D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支撑前端地图展示与列表筛选，实现车场快速触达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F4298D32-6B04-4A5B-A7C0-E1F080BC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1A4D4FAC-DE63-40DE-AA22-2771678B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35306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reservations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EA0E457E-926E-41FA-99E3-69C40240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290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0C4F85A1-F88A-407C-9D54-FE41107C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35306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预约创建、确认、取消、超时自动释放、状态同步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9A523812-093F-4E4E-913F-6AF459E1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34290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E0852E43-FFE6-46FE-B788-5361440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306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实现车位预约的全生命周期管理，支撑预约状态机流转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0D719020-ACA0-48DF-83F6-5E2EC66C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6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F1AD6A9F-67C8-456B-B366-17FF9083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40005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orders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7F9113F1-B4B2-43EB-BC9E-E99F06A0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116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7A1D2F41-B005-49E5-95FF-C99E3C15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0005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停车订单生成、支付结算、停车记录、反向寻车</a:t>
            </a: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A92FACE5-B3D5-4C77-ADF0-F35B72BE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39116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A3A42AF0-7A72-4935-AC90-B497170B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打通停车入出场与支付闭环，确保交易数据准确无误</a:t>
            </a: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FA41A4A7-BD4B-4DCC-9B45-FBFCB7DD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134AF637-2CD4-4305-AB22-7C3BBFAA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44831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spots</a:t>
            </a: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90EC80DD-1448-4D43-9816-AACD483A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815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6A00AB4B-2D16-4917-92FF-B2EF80AC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4831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车位实时状态查询、占用与释放、车位详情同步</a:t>
            </a: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9EA2EA3B-B417-4A22-8406-2417DACF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43815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D14D282C-2D4C-4120-9689-4DA599B5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831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实时同步车位占用状态，支撑用户寻车与车位高效调度</a:t>
            </a:r>
          </a:p>
        </p:txBody>
      </p:sp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90B2FF88-2262-4157-8D5D-3051CA4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41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25B8C7BF-D205-404C-89F8-A198F79E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" y="49530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admin/analytics</a:t>
            </a: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EEE28315-871E-471B-BAB9-9CFFE1E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64100"/>
            <a:ext cx="37211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DDD1C88C-B9C4-4A90-9D9B-90550C19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4953000"/>
            <a:ext cx="35306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运营看板、订单统计、营收分析、车位饱和度监控</a:t>
            </a: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70254BF9-F4FC-4FE8-9230-80330771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00" y="48641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616A5E5A-BEFE-4570-88DA-90A6158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为运营人员提供数据支撑，实现精细化运营与决策辅助</a:t>
            </a:r>
          </a:p>
        </p:txBody>
      </p:sp>
    </p:spTree>
    <p:extLst>
      <p:ext uri="{BB962C8B-B14F-4D97-AF65-F5344CB8AC3E}">
        <p14:creationId xmlns:p14="http://schemas.microsoft.com/office/powerpoint/2010/main" val="14199180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03DBC5A-6BCA-47BE-8D31-EF360DE6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46141DF-856C-441B-BB3D-4777C817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585FA1D-5DD0-4BF3-BE6E-5E7A7D25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A87A1B8-4B76-432D-9657-5EF442F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E4E4548-7526-4177-9807-B456E6BA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前端页面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D52603F-E159-4021-BB28-DD2EDEC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页面按车主流程和后台流程分组，入口更符合演示顺序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0455631-FAAC-4C78-84A2-91C9C52B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顶部功能区、地图主体、浮窗模拟和右侧推荐列表共同服务首页，构建流畅的用户体验闭环。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0AAA242-FD0E-450A-9EEE-9F1AFF1F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9558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7EFDA70-AB34-41DF-97A0-EBB422C5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47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页面模块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0243D6B-ACCC-4E25-A4BD-00981B04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19558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704E6581-F286-4AA9-9047-EDA3608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447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核心功能构成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516D95E-4324-4818-9C49-9FA6ACE6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9558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710718C-5573-49DD-9214-A79477BA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47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验收与演示重点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15EBE30-2634-4256-86CF-5D394963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4257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7BBEECA-36BB-4B32-850B-F182E798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73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登录与注册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616538F-79F9-493D-A8F5-DB82E24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4257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F609A2E2-5226-4588-8DBF-82064E58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273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账号密码登录、验证码注册、演示账号快捷入口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4BE0588-A10A-47A6-A863-9FEC5801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4257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085E0E66-722F-4794-9869-B5420DD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73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验证账号体系互通性，确保演示账号可无障碍体验全功能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24A51D29-8243-4805-A33D-32F94DF2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9083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D02FE97-C98D-4628-9195-6FD2E909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72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系统首页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51A789CE-C3F9-4305-8BE5-AEB5D1B2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9083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724A842D-03EB-434B-A72F-5F2E684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972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地图可视化展示、智能车位搜索、推荐排序、入出场模拟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2EA6DEF5-AAD5-4901-84BE-525E7A4D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9083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4D342A20-94F8-4B48-BBD1-1DE2AAE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972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检查地图加载速度与渲染精度，验证推荐算法的合理性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9A6F1E65-D3D8-4DA7-8DA9-5896FF0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3782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2C7CC158-104E-4921-B2CC-05295073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98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详情与预约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0371E9F-B1BE-4641-8EEE-FDBCD3F0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33782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D45D00FA-88D6-4A58-BF1C-789EA821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798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车场详情展示、车位实时预约、订单确认及取消操作</a:t>
            </a: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0BB25449-87BD-48DF-B1F3-4756DEB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782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F9DC411D-5C31-4D67-AB11-3CA04CF7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798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验证预约状态同步、锁单机制及超时释放功能是否正常</a:t>
            </a: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32C1CD60-D716-454B-8AB5-E4D42E5E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8608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2EC937A1-6894-4D7D-8CC4-E7E0FE06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97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订单与记录</a:t>
            </a: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289C635B-77CC-4925-BF3B-5CACAE9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38608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A0733DFA-8BD2-4947-8F92-89DC1DE3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97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停车订单结算、在线支付、历史订单与账单查询</a:t>
            </a: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7BBE851A-93C9-424F-9E77-288F2E69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8608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C0C908BF-04DC-441A-96B9-F12D9D65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97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验证模拟支付状态更新，核对历史记录与订单金额</a:t>
            </a:r>
          </a:p>
        </p:txBody>
      </p:sp>
      <p:sp>
        <p:nvSpPr>
          <p:cNvPr id="39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B8B01EBA-6745-460E-AFA6-E69ACCAD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3307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AutoShape 40">
            <a:extLst xmlns:a="http://schemas.openxmlformats.org/drawingml/2006/main">
              <a:ext uri="{FF2B5EF4-FFF2-40B4-BE49-F238E27FC236}">
                <a16:creationId xmlns:a16="http://schemas.microsoft.com/office/drawing/2014/main" id="{769CADAF-00B1-4DF0-A3F7-26077751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23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41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C50824A2-623D-4C58-9D12-957B7C82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3307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E873B7D6-871B-46F6-B760-2C459492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323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车辆停放位置实时查询、场内最优导航路线规划</a:t>
            </a:r>
          </a:p>
        </p:txBody>
      </p:sp>
      <p:sp>
        <p:nvSpPr>
          <p:cNvPr id="43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04BA8162-2493-4FCC-94AC-150B35F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3307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507AC2BB-A76A-47FB-B733-8F501F4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323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验证订单、车位与寻车路线映射关系</a:t>
            </a:r>
          </a:p>
        </p:txBody>
      </p:sp>
      <p:sp>
        <p:nvSpPr>
          <p:cNvPr id="45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8D9F8268-4896-4923-A360-AEB87D34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813300"/>
            <a:ext cx="17145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302C2CE5-B5CC-4A51-999C-B6A6006E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2200"/>
            <a:ext cx="1524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管理后台</a:t>
            </a:r>
          </a:p>
        </p:txBody>
      </p:sp>
      <p:sp>
        <p:nvSpPr>
          <p:cNvPr id="47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F66A1973-C504-40CA-9EE9-D5C280D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813300"/>
            <a:ext cx="34290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A88414B3-15EC-4F59-ACBC-EA811737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02200"/>
            <a:ext cx="3238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车场基础信息管理、订单审核、运营数据统计、车位释放</a:t>
            </a:r>
          </a:p>
        </p:txBody>
      </p:sp>
      <p:sp>
        <p:nvSpPr>
          <p:cNvPr id="49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E738B4D1-19E8-4139-9673-9D665F3E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13300"/>
            <a:ext cx="4330700" cy="482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D78DC47-229F-4D1D-9993-A5AA0126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02200"/>
            <a:ext cx="41402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验收管理端数据同步、统计看板与权限路由</a:t>
            </a:r>
          </a:p>
        </p:txBody>
      </p:sp>
      <p:sp>
        <p:nvSpPr>
          <p:cNvPr id="51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B56EAAE4-DDE7-4E24-BFBA-B9EC5196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B153460D-27AB-4B7B-9384-333C4258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SmartPark V3 前端功能验收清单</a:t>
            </a:r>
          </a:p>
        </p:txBody>
      </p:sp>
      <p:sp>
        <p:nvSpPr>
          <p:cNvPr id="53" name="AutoShape 53">
            <a:extLst xmlns:a="http://schemas.openxmlformats.org/drawingml/2006/main">
              <a:ext uri="{FF2B5EF4-FFF2-40B4-BE49-F238E27FC236}">
                <a16:creationId xmlns:a16="http://schemas.microsoft.com/office/drawing/2014/main" id="{1A58ED91-C0F8-45C4-92A8-65FDBA8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54209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7978380-4D3D-4B78-90AF-46534732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5A42318-8916-497A-8602-4D494D9D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C375C4F-AED8-4A32-8F8B-80C0EDD6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9821E7-4F6F-4D6D-B777-6AEECDD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BC50FF3-9CDA-4E9E-8442-7E033A4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数据一致性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6621941-322A-4C76-8F6D-0A6F1DD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状态保护让演示流程不会出现空位和订单错乱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362D285-C4EB-4B45-A1BB-05E489E6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V3针对易错点做了收口处理。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E428684-F64F-4535-8DA2-749E740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3768BCD-42F7-4293-B67C-8B589622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数据一致性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9CB4D772-4932-48A4-B801-F23FCAF7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9E44974-0E87-49BF-8FC5-5E2D48A9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095500"/>
            <a:ext cx="3289300" cy="2527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1E990AF-E019-41C8-8544-94FC38D9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276AB15-0514-490F-BB64-2A460BA3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预约一致性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2E85DB6C-1EE0-45D6-9B20-3C1EC1F5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0500"/>
            <a:ext cx="2870200" cy="1739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预约创建后实时扣减空位，避免超约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用户确认预约后即时生成有效订单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预约取消或过期时自动释放对应车位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D8E3DD8-79B4-46DD-A445-218AEAE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9300" cy="2527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DC03FCF9-3461-469C-A16E-01F49836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AC7CDE50-E302-4DFF-9849-09087200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订单一致性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2ECC7AF-E254-42D2-91FD-96464ABB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730500"/>
            <a:ext cx="2870200" cy="1739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系统智能拦截车辆的重复入场请求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车辆出场时自动触发费用核算逻辑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完成支付流程后，车位状态同步释放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C99A3F2-CD9E-4780-83B3-B5870E06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095500"/>
            <a:ext cx="3289300" cy="2527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8061220C-61E0-4071-A5AD-EA6EAA5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0955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65C203F0-76D1-4530-8704-DB0C271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114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后台一致性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557E1681-C162-4D48-BA4A-DA74E7A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30500"/>
            <a:ext cx="2870200" cy="1739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释放空闲车位时防止库存数据重复累加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运营统计口径统一优化为百分比展示</a:t>
            </a:r>
          </a:p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• 后台统计与前台用户端数据实时联动</a:t>
            </a:r>
          </a:p>
        </p:txBody>
      </p:sp>
    </p:spTree>
    <p:extLst>
      <p:ext uri="{BB962C8B-B14F-4D97-AF65-F5344CB8AC3E}">
        <p14:creationId xmlns:p14="http://schemas.microsoft.com/office/powerpoint/2010/main" val="18913925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200B936-EB12-45CF-B36E-F15456D1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134BD70-85B0-4E62-8B2E-DF14E731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9CE9AF5-18AC-43A8-8BFD-F4B4DC9D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98323CF-EFED-492B-8722-9B8DCBE0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702EAFA-DFD1-4C31-9532-ED1E6F39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验证结果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279290B-493E-48AF-AF13-23320B4A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最终版本已经完成构建、语法和业务流程验证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A571314-9282-42F6-B87C-A0F2A54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这些检查用于支撑“验收达标”的结论。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C546BA97-5BBB-484C-A120-B67B5EE5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662AA37-1D94-4396-AE64-5D3B503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验证结果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31C0C38-F308-409D-85BD-3CB54E27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3ED0044-2773-4905-A328-62997308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2082800"/>
            <a:ext cx="3289300" cy="2387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1AE46AF-2183-4E01-A0DF-9EEFAD5D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20828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EBF1606-CC4C-468D-AAA7-56BEBA56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前端构建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6D525D1-C85B-49CC-AB5F-E8E57002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2870200" cy="160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npm.cmd run build 执行通过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Vite 仅提示常规大包 Warning 信息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页面静态资源可完整打包并发布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9265A43-7712-4D0D-8997-2730815E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2800"/>
            <a:ext cx="3289300" cy="2387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CFDF5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684798F-4637-4DF7-A763-668E335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28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61698AB-8868-4ED4-862D-228456A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2860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后端检查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BAD38EEE-4ED0-4236-A893-1661A46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2705100"/>
            <a:ext cx="2870200" cy="160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Python compileall 语法检查通过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main.py 核心路由模块可正常导入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服务启动后自动完成 Seed 数据初始化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A5E5E1E-5B8A-4F89-8225-C0A62B26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082800"/>
            <a:ext cx="3289300" cy="2387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DECCBCA4-1554-4CF0-809C-9877528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2082800"/>
            <a:ext cx="32893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7F739B04-FECD-4E99-BE07-34204142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702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端到端流程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59D640DB-CDA0-4681-9EB0-DA9A23EA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870200" cy="160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全链路：登录→预约→确认→入场→寻车→出场→支付闭环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车辆与订单核心状态可连续、无异常流转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E9C40D93-A90C-4601-ACB5-A0F7335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2700"/>
            <a:ext cx="9144000" cy="3429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结论：系统已经从 V1 的基本 MVP 迭代为 V3 最终演示版。</a:t>
            </a:r>
          </a:p>
        </p:txBody>
      </p:sp>
    </p:spTree>
    <p:extLst>
      <p:ext uri="{BB962C8B-B14F-4D97-AF65-F5344CB8AC3E}">
        <p14:creationId xmlns:p14="http://schemas.microsoft.com/office/powerpoint/2010/main" val="20128392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B3AD1A2-7AF9-4842-B084-7FBC3525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926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7710DBA-4A5E-449A-9833-019077DE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0"/>
            <a:ext cx="9017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C830DD4-68F2-4140-A35D-D6400EB9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28575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04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C38E4B3-8B55-40F9-B509-522157B3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6100"/>
            <a:ext cx="7239000" cy="13335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现场演示与提交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505BF61-3D4B-4B99-9986-108431DC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7600"/>
            <a:ext cx="4864100" cy="1905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800" b="0" i="0" u="none">
                <a:solidFill>
                  <a:srgbClr val="D8EAFE"/>
                </a:solidFill>
                <a:latin typeface="Calibri"/>
                <a:ea typeface="Calibri"/>
                <a:cs typeface="Calibri"/>
              </a:rPr>
              <a:t>通过完整的演示脚本串联系统核心功能，直观呈现业务流程闭环；同时详细说明基于 GitHub 的代码交付规范、仓库结构与版本管理方案，确保项目成果可追溯、可维护。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DFA9756-C65F-497B-B8B1-9C2C416B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100" y="5905500"/>
            <a:ext cx="863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8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78085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49B06E4-3B5B-42AB-B123-3FEBAAE9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6C14D19-E0EF-49FE-A33D-4ED2F186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D974A39-3B15-4C98-A3F4-E4E8804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4BAF88A-8ACF-4C0B-A375-663BC907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0F681DE-BE2E-439D-BE35-860B07FA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演示脚本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CBF2CCF-500C-47AD-A4D5-29C7B048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建议按一条车主旅程讲解，再切到管理员后台收尾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761A4F-31AC-45BB-B6C7-07ADF743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这条路线覆盖最核心的验收点。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6759441-05BB-4930-A6EC-8AD2A416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5F94967-71C9-4631-8EAA-05821E77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AF66217-DCAD-45A0-A5B9-7BF7E5F5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登录用户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24C8E9A-5D61-4CE7-98F1-278C0C6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7947337A-1DD7-4D48-82D4-977F7CF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2D5422A-7001-4913-87E3-9B9FADB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4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搜索目的地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D2DDD44-2F2D-4055-88D6-6B1D21B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8A98E5C5-BDE8-48CB-BF40-D972A37C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436D97B8-0EA0-4A45-BFBB-E5879EB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查看推荐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9F1C34D-398A-48F5-A27A-4BD2B810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3E6C448-FFAA-467C-9515-E573751D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C0FB4C84-6FCA-424C-BD8D-576C5CD2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7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预约车位</a:t>
            </a: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94610572-7E5F-426C-93D2-7BD0E062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C18BCD82-212A-426A-A3B7-C8E112DE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8FF43434-8409-4F9C-B125-061F07BA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模拟入场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8BBFEE66-BCE7-4DCE-8E85-7B9441AB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0FD78469-DA14-4666-9C5B-D7E8A15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8F27723-AA79-403F-AD77-2275B54C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反向寻车</a:t>
            </a: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46EA70CD-4126-4E08-AB8C-7B902447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473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B6E8B009-3BF3-4F52-ADFC-E996EE00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1244600" cy="177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00CFBC9-95DA-4C75-8491-C113D99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63800"/>
            <a:ext cx="1244600" cy="3683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出场支付</a:t>
            </a: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7032A0CE-93BD-4546-9308-F15570F3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370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D0739148-F940-4B94-9621-A85FB1FD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3860800"/>
            <a:ext cx="9474200" cy="508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车主体验全流程：</a:t>
            </a: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从地图搜索目的地开始，查看车场评分与智能推荐，完成车位预约下单，实时追踪订单状态，并在离场时使用反向寻车功能精准找车。</a:t>
            </a:r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4CDB8FEB-7D93-46AC-9A45-45B49FB9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66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E7C46A2E-9A4F-4C0D-9A29-FC2386D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4470400"/>
            <a:ext cx="9474200" cy="508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设备与系统联动：模拟真实场景下的车牌识别入场与出场，验证模拟设备事件触发后订单状态自动流转，确保前端操作与后端数据同步。</a:t>
            </a:r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653C45D4-03B4-4197-9F34-E1E29A6C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56200"/>
            <a:ext cx="101600" cy="101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7707B4A5-2E4F-4045-AC04-9F21406F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200" y="5080000"/>
            <a:ext cx="9474200" cy="508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运营后台验收：</a:t>
            </a:r>
            <a:r>
              <a:rPr sz="1700" b="0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以管理员视角登录后台，核查车场实时运营概览、订单全链路明细，以及多维度的运营数据统计报表，确保管理功能完备。</a:t>
            </a: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8051EB6A-AF94-440A-9BF7-9C266C4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2145CF76-8CBB-473C-BE61-215A282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演示脚本</a:t>
            </a:r>
          </a:p>
        </p:txBody>
      </p:sp>
      <p:sp>
        <p:nvSpPr>
          <p:cNvPr id="38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7428DB7C-3AF1-496E-974C-D21688D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431982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DBF8A2A-1FBF-4CBA-9594-A1ABE8EA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1220">
              <a:alpha val="100000"/>
            </a:srgbClr>
          </a:solidFill>
          <a:ln xmlns:a="http://schemas.openxmlformats.org/drawingml/2006/main" w="12700" cmpd="sng">
            <a:solidFill>
              <a:srgbClr val="0B1220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A3A2B40-44E1-49E0-A192-A22942A9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5118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706D15-DF85-4B84-BB17-0B18DAC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0" y="114300"/>
            <a:ext cx="26797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51D200F-591E-4FBE-8550-A3E0E530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114300"/>
            <a:ext cx="2197100" cy="63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A34A">
              <a:alpha val="100000"/>
            </a:srgbClr>
          </a:solidFill>
          <a:ln xmlns:a="http://schemas.openxmlformats.org/drawingml/2006/main" w="12700" cmpd="sng">
            <a:solidFill>
              <a:srgbClr val="16A34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D3EA96F-68FE-4E44-A3BD-EE477500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8300"/>
            <a:ext cx="4000500" cy="228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GitHub 交付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EACBF0F-EAD5-4E9F-9752-3C555DAF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723900"/>
            <a:ext cx="9055100" cy="558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900" b="1" i="0" u="none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README 已补齐启动命令、账号和验收说明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FED86CB-260E-4D29-9A43-4E479F70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0800"/>
            <a:ext cx="9144000" cy="4064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提交时建议只纳入项目代码、README、PPT 和必要配置。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3BD590-216A-4498-BBA5-9FFEEC5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159500"/>
            <a:ext cx="110871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BD5E1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C8E122-486B-4C7A-99D0-8285D38B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1900"/>
            <a:ext cx="4762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9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GitHub 交付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2EB110A-347C-4992-8368-EC3C0627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400" y="6286500"/>
            <a:ext cx="571500" cy="25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100" b="1" i="0" u="none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438C8386-915D-44EC-89E6-6241604B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387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D41756D-2955-4723-8E84-34AEDFF5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CEEBC76C-A937-4ABA-9DD3-556F690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311400"/>
            <a:ext cx="45339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推荐提交命令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D865802-6507-4254-BFF6-F2536BF8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2730500"/>
            <a:ext cx="4533900" cy="160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git add .gitignore README.md smart-park-v1.0/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git add outputs/SmartPark_V3_验收演示.pptx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git commit -m "feat: complete SmartPark V3 final version"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git push origin main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2E3E9E7-FBFD-4A62-9F10-C5698563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387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5943CD83-A9BF-4EF9-BC13-07337EE0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7316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10AD15F7-E29C-4E07-8126-1293D009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311400"/>
            <a:ext cx="4533900" cy="3048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提交注意事项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C43B1814-E7C4-4C54-9E19-D2FDCB91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730500"/>
            <a:ext cx="4533900" cy="160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严禁直接执行 `git add outputs/`，该目录包含历史演示文稿、自动生成的临时文件及检查报告，非必要不纳入版本管理。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建议按需精确提交核心交付物，若无需演示文稿，仅提交业务代码与文档即可。</a:t>
            </a:r>
          </a:p>
        </p:txBody>
      </p:sp>
    </p:spTree>
    <p:extLst>
      <p:ext uri="{BB962C8B-B14F-4D97-AF65-F5344CB8AC3E}">
        <p14:creationId xmlns:p14="http://schemas.microsoft.com/office/powerpoint/2010/main" val="138129981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2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042C040-CFA0-4C5E-9A74-EE548E87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>
              <a:alpha val="100000"/>
            </a:srgbClr>
          </a:solidFill>
          <a:ln xmlns:a="http://schemas.openxmlformats.org/drawingml/2006/main" w="12700" cmpd="sng">
            <a:solidFill>
              <a:srgbClr val="2563E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A9EF2FB-0C1C-4568-A2B7-5ADAB45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900"/>
            <a:ext cx="54864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B6D4">
              <a:alpha val="100000"/>
            </a:srgbClr>
          </a:solidFill>
          <a:ln xmlns:a="http://schemas.openxmlformats.org/drawingml/2006/main" w="12700" cmpd="sng">
            <a:solidFill>
              <a:srgbClr val="06B6D4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D4CC6F1-D98E-4C04-84C8-FE31BE9A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3100"/>
            <a:ext cx="2286000" cy="3302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验收结论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203034E-E921-4894-88C8-CFC1212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63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8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SmartPark V3 已达到最终演示交付标准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CED3AD7-14BD-4DF6-891B-149DC59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0744200" cy="635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000" b="0" i="0" u="none">
                <a:solidFill>
                  <a:srgbClr val="D8EAFE"/>
                </a:solidFill>
                <a:latin typeface="Calibri"/>
                <a:ea typeface="Calibri"/>
                <a:cs typeface="Calibri"/>
              </a:rPr>
              <a:t>系统形成了可运行、可演示、可提交的智慧停车核心业务闭环。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B44B7C0-4054-49A6-9912-57EE4B7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0800"/>
            <a:ext cx="25781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4191C1C-0FE4-4F7F-8174-65AE2E05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25900"/>
            <a:ext cx="21971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16A34A"/>
                </a:solidFill>
                <a:latin typeface="Calibri"/>
                <a:ea typeface="Calibri"/>
                <a:cs typeface="Calibri"/>
              </a:rPr>
              <a:t>可运行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175D2A9-09AA-48F9-8690-78753DE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4584700"/>
            <a:ext cx="22352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前后端自动构建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BC3225C0-CF82-483C-B57C-60E2FCD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3860800"/>
            <a:ext cx="25781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561AC71-83AC-442F-9FA9-9CD2A83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800" y="4025900"/>
            <a:ext cx="21971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06B6D4"/>
                </a:solidFill>
                <a:latin typeface="Calibri"/>
                <a:ea typeface="Calibri"/>
                <a:cs typeface="Calibri"/>
              </a:rPr>
              <a:t>可演示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33A376B-514A-4355-85A7-D8B56F8B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584700"/>
            <a:ext cx="22352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主流程一条线讲清楚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B12ECAC-CA97-4B2E-ABA7-77626904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00" y="3860800"/>
            <a:ext cx="2578100" cy="11303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2BC14192-8B21-4294-B31A-0539BBA3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4100" y="4025900"/>
            <a:ext cx="219710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300" b="1" i="0" u="none">
                <a:solidFill>
                  <a:srgbClr val="F97316"/>
                </a:solidFill>
                <a:latin typeface="Calibri"/>
                <a:ea typeface="Calibri"/>
                <a:cs typeface="Calibri"/>
              </a:rPr>
              <a:t>可扩展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9E25FEB-9D98-44C5-9F79-D4C3214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84700"/>
            <a:ext cx="2235200" cy="2667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00" b="1" i="0" u="none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地图、接口、后台边界清晰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DC6CEDDA-A37E-421E-AEFB-D389506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626100"/>
            <a:ext cx="10160000" cy="635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700" b="1" i="0" u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后续可继续接入真实摄像头、支付网关、城市级停车热力分析和动态定价策略。</a:t>
            </a:r>
          </a:p>
        </p:txBody>
      </p:sp>
    </p:spTree>
    <p:extLst>
      <p:ext uri="{BB962C8B-B14F-4D97-AF65-F5344CB8AC3E}">
        <p14:creationId xmlns:p14="http://schemas.microsoft.com/office/powerpoint/2010/main" val="176285937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2026-07-09T10:14:02.3410000Z</dcterms:created>
  <dcterms:modified xsi:type="dcterms:W3CDTF">2026-07-09T10:14:02.3410000Z</dcterms:modified>
</coreProperties>
</file>