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40f6b923664713" /><Relationship Type="http://schemas.openxmlformats.org/officeDocument/2006/relationships/extended-properties" Target="/docProps/app.xml" Id="R570ef20c13534a25" /><Relationship Type="http://schemas.openxmlformats.org/officeDocument/2006/relationships/officeDocument" Target="/ppt/presentation.xml" Id="R5b80482c7d4641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f6df5696e5469a"/>
  </p:sldMasterIdLst>
  <p:notesMasterIdLst>
    <p:notesMasterId xmlns:r="http://schemas.openxmlformats.org/officeDocument/2006/relationships" r:id="Rf9d1774a804a47ce"/>
  </p:notesMasterIdLst>
  <p:sldIdLst>
    <p:sldId xmlns:r="http://schemas.openxmlformats.org/officeDocument/2006/relationships" id="256" r:id="R277bd4808ed34c43"/>
    <p:sldId xmlns:r="http://schemas.openxmlformats.org/officeDocument/2006/relationships" id="257" r:id="Rd83d1263e6124da2"/>
    <p:sldId xmlns:r="http://schemas.openxmlformats.org/officeDocument/2006/relationships" id="258" r:id="Rf7a125641d884fe9"/>
    <p:sldId xmlns:r="http://schemas.openxmlformats.org/officeDocument/2006/relationships" id="259" r:id="R64a8c6683d71448d"/>
    <p:sldId xmlns:r="http://schemas.openxmlformats.org/officeDocument/2006/relationships" id="260" r:id="Rc3bd9c01fa814277"/>
    <p:sldId xmlns:r="http://schemas.openxmlformats.org/officeDocument/2006/relationships" id="261" r:id="Rcb9f2b25af6c41e5"/>
    <p:sldId xmlns:r="http://schemas.openxmlformats.org/officeDocument/2006/relationships" id="262" r:id="Re507f95bca0f42ed"/>
    <p:sldId xmlns:r="http://schemas.openxmlformats.org/officeDocument/2006/relationships" id="263" r:id="R37c4496bf40e4c3c"/>
    <p:sldId xmlns:r="http://schemas.openxmlformats.org/officeDocument/2006/relationships" id="264" r:id="Ra9be099f86f04488"/>
    <p:sldId xmlns:r="http://schemas.openxmlformats.org/officeDocument/2006/relationships" id="265" r:id="R29e7348d40994a84"/>
    <p:sldId xmlns:r="http://schemas.openxmlformats.org/officeDocument/2006/relationships" id="266" r:id="R3750dc59bc874e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cc70b051554a92" /><Relationship Type="http://schemas.openxmlformats.org/officeDocument/2006/relationships/slideMaster" Target="/ppt/slideMasters/slideMaster1.xml" Id="R8df6df5696e5469a" /><Relationship Type="http://schemas.openxmlformats.org/officeDocument/2006/relationships/notesMaster" Target="/ppt/notesMasters/notesMaster1.xml" Id="Rf9d1774a804a47ce" /><Relationship Type="http://schemas.openxmlformats.org/officeDocument/2006/relationships/presProps" Target="/ppt/presProps.xml" Id="R494f53333313475e" /><Relationship Type="http://schemas.openxmlformats.org/officeDocument/2006/relationships/tableStyles" Target="/ppt/tableStyles.xml" Id="R04125a2f36124c68" /><Relationship Type="http://schemas.openxmlformats.org/officeDocument/2006/relationships/slide" Target="/ppt/slides/slide1.xml" Id="R277bd4808ed34c43" /><Relationship Type="http://schemas.openxmlformats.org/officeDocument/2006/relationships/slide" Target="/ppt/slides/slide2.xml" Id="Rd83d1263e6124da2" /><Relationship Type="http://schemas.openxmlformats.org/officeDocument/2006/relationships/slide" Target="/ppt/slides/slide3.xml" Id="Rf7a125641d884fe9" /><Relationship Type="http://schemas.openxmlformats.org/officeDocument/2006/relationships/slide" Target="/ppt/slides/slide4.xml" Id="R64a8c6683d71448d" /><Relationship Type="http://schemas.openxmlformats.org/officeDocument/2006/relationships/slide" Target="/ppt/slides/slide5.xml" Id="Rc3bd9c01fa814277" /><Relationship Type="http://schemas.openxmlformats.org/officeDocument/2006/relationships/slide" Target="/ppt/slides/slide6.xml" Id="Rcb9f2b25af6c41e5" /><Relationship Type="http://schemas.openxmlformats.org/officeDocument/2006/relationships/slide" Target="/ppt/slides/slide7.xml" Id="Re507f95bca0f42ed" /><Relationship Type="http://schemas.openxmlformats.org/officeDocument/2006/relationships/slide" Target="/ppt/slides/slide8.xml" Id="R37c4496bf40e4c3c" /><Relationship Type="http://schemas.openxmlformats.org/officeDocument/2006/relationships/slide" Target="/ppt/slides/slide9.xml" Id="Ra9be099f86f04488" /><Relationship Type="http://schemas.openxmlformats.org/officeDocument/2006/relationships/slide" Target="/ppt/slides/slide10.xml" Id="R29e7348d40994a84" /><Relationship Type="http://schemas.openxmlformats.org/officeDocument/2006/relationships/slide" Target="/ppt/slides/slide11.xml" Id="R3750dc59bc874e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96b5da25a041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92181318254598" /><Relationship Type="http://schemas.openxmlformats.org/officeDocument/2006/relationships/notesMaster" Target="/ppt/notesMasters/notesMaster1.xml" Id="R6675e243440b4c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93f302743449d0" /><Relationship Type="http://schemas.openxmlformats.org/officeDocument/2006/relationships/notesMaster" Target="/ppt/notesMasters/notesMaster1.xml" Id="R547c3be6a05249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26261150d74ea2" /><Relationship Type="http://schemas.openxmlformats.org/officeDocument/2006/relationships/notesMaster" Target="/ppt/notesMasters/notesMaster1.xml" Id="Rda4822ae310044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8e54aa94464f8b" /><Relationship Type="http://schemas.openxmlformats.org/officeDocument/2006/relationships/notesMaster" Target="/ppt/notesMasters/notesMaster1.xml" Id="R7e9420a26c7842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f9055fc4e84269" /><Relationship Type="http://schemas.openxmlformats.org/officeDocument/2006/relationships/notesMaster" Target="/ppt/notesMasters/notesMaster1.xml" Id="R1156dd5658cc46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6d17ef1ece41f2" /><Relationship Type="http://schemas.openxmlformats.org/officeDocument/2006/relationships/notesMaster" Target="/ppt/notesMasters/notesMaster1.xml" Id="R686749a280634e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60d368989a4548" /><Relationship Type="http://schemas.openxmlformats.org/officeDocument/2006/relationships/notesMaster" Target="/ppt/notesMasters/notesMaster1.xml" Id="Red813516b77d41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2ec5d6722c4598" /><Relationship Type="http://schemas.openxmlformats.org/officeDocument/2006/relationships/notesMaster" Target="/ppt/notesMasters/notesMaster1.xml" Id="R7ca54350bdb84b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3ca78651d448b7" /><Relationship Type="http://schemas.openxmlformats.org/officeDocument/2006/relationships/notesMaster" Target="/ppt/notesMasters/notesMaster1.xml" Id="R5e5204ce7b964a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f5444d2b5542d5" /><Relationship Type="http://schemas.openxmlformats.org/officeDocument/2006/relationships/notesMaster" Target="/ppt/notesMasters/notesMaster1.xml" Id="Ra6b073c0692346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0b994440724b47" /><Relationship Type="http://schemas.openxmlformats.org/officeDocument/2006/relationships/notesMaster" Target="/ppt/notesMasters/notesMaster1.xml" Id="Rbaeb8caa075742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493cf3f2b4c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2c521cd8f94acd" /><Relationship Type="http://schemas.openxmlformats.org/officeDocument/2006/relationships/slideLayout" Target="/ppt/slideLayouts/slideLayout1.xml" Id="R6b40064e3e554e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40064e3e554e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29475106b4761" /><Relationship Type="http://schemas.openxmlformats.org/officeDocument/2006/relationships/notesSlide" Target="/ppt/notesSlides/notesSlide1.xml" Id="Rd034af44778446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dcdd3a00d4718" /><Relationship Type="http://schemas.openxmlformats.org/officeDocument/2006/relationships/notesSlide" Target="/ppt/notesSlides/notesSlide2.xml" Id="R0912b49851074c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b1de6e3fc448f" /><Relationship Type="http://schemas.openxmlformats.org/officeDocument/2006/relationships/notesSlide" Target="/ppt/notesSlides/notesSlide3.xml" Id="R7f14c092d1284f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10b95e8a24a6e" /><Relationship Type="http://schemas.openxmlformats.org/officeDocument/2006/relationships/image" Target="/ppt/media/image.png" Id="R5aa15b6e34ad4be8" /><Relationship Type="http://schemas.openxmlformats.org/officeDocument/2006/relationships/notesSlide" Target="/ppt/notesSlides/notesSlide4.xml" Id="Ra0bbff7c63ea4f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2275b30844855" /><Relationship Type="http://schemas.openxmlformats.org/officeDocument/2006/relationships/image" Target="/ppt/media/image2.png" Id="R1a00eba3ceda4f7e" /><Relationship Type="http://schemas.openxmlformats.org/officeDocument/2006/relationships/notesSlide" Target="/ppt/notesSlides/notesSlide5.xml" Id="Ra06bbbfe90764f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d27a41fba4250" /><Relationship Type="http://schemas.openxmlformats.org/officeDocument/2006/relationships/notesSlide" Target="/ppt/notesSlides/notesSlide6.xml" Id="R95940203bd7b4e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11df6efc541ed" /><Relationship Type="http://schemas.openxmlformats.org/officeDocument/2006/relationships/image" Target="/ppt/media/image3.png" Id="Rfa6b045d5d5a40a7" /><Relationship Type="http://schemas.openxmlformats.org/officeDocument/2006/relationships/image" Target="/ppt/media/image4.png" Id="R2d36278cd5354377" /><Relationship Type="http://schemas.openxmlformats.org/officeDocument/2006/relationships/image" Target="/ppt/media/image5.png" Id="R394fa83e33d34b52" /><Relationship Type="http://schemas.openxmlformats.org/officeDocument/2006/relationships/notesSlide" Target="/ppt/notesSlides/notesSlide7.xml" Id="R0da463b35b2848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a9a044ad14ad4" /><Relationship Type="http://schemas.openxmlformats.org/officeDocument/2006/relationships/image" Target="/ppt/media/image6.png" Id="R70974f26956c4a60" /><Relationship Type="http://schemas.openxmlformats.org/officeDocument/2006/relationships/image" Target="/ppt/media/image7.png" Id="R2e9d0c12637349c2" /><Relationship Type="http://schemas.openxmlformats.org/officeDocument/2006/relationships/image" Target="/ppt/media/image8.png" Id="Rbc60c37f6db14637" /><Relationship Type="http://schemas.openxmlformats.org/officeDocument/2006/relationships/notesSlide" Target="/ppt/notesSlides/notesSlide8.xml" Id="R1fecba5698434f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e3489ed2048d7" /><Relationship Type="http://schemas.openxmlformats.org/officeDocument/2006/relationships/notesSlide" Target="/ppt/notesSlides/notesSlide9.xml" Id="Rf85dc1fa486747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d3072c66e468d" /><Relationship Type="http://schemas.openxmlformats.org/officeDocument/2006/relationships/notesSlide" Target="/ppt/notesSlides/notesSlide10.xml" Id="R8f38b53aee4e43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aadc9c1c34cf8" /><Relationship Type="http://schemas.openxmlformats.org/officeDocument/2006/relationships/notesSlide" Target="/ppt/notesSlides/notesSlide11.xml" Id="R01aaf0b91a894a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5D0378-9C36-49A0-808B-28364FEB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95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AI-driven 城市智慧停车管理与诱导系统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5490C-5BC5-4C7D-AADB-29E3F06C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SmartPark V1.0 项目汇报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9ECED-74FC-42B4-9EF1-9777A14E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31585-3FC6-46B1-ACEF-266532A3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243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第19组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D966F-63B6-4958-BAD4-D366B34F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149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程晓洋 / 丁梓钊 / 程子浩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588A0-59AA-40CE-9E2F-3BAF2CD5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4C3A6-21FA-43CD-BBF5-35FE35B6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14900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MVP 覆盖 P0 六个核心模块，已完成端到端演示闭环和 38 条功能测试。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67F71-1BF2-456C-B4E4-7EB15EB6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78878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70EF00-D1B3-4F92-AFAE-BD37AF1F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E7095-1736-4354-B5EA-A7D92860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5534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这套系统要解决停车信息割裂带来的低效率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4EEC8-38DD-4281-8229-73DAC739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DEA85-1A71-4064-9EA5-605BEF3D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0050"/>
            <a:ext cx="5543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需求材料把“停车难”拆成资源不足、车位信息孤岛、诱导缺失、支付效率低和监管滞后五类问题。系统目标不是单点页面，而是把车主、车场和监管侧连成同一条数据链。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4F0F2-EA80-4C45-959A-849105A2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77B26-80E2-4CFB-9DBE-F41470F4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3F2E9-ADA0-4752-87F5-F29E06E8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8000万+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D4829-C8B2-4484-9B6F-1FBA1D41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2038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全国停车位缺口的项目背景口径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EC264-2BA6-4D85-A0F4-F33FF914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28825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22DC8-914F-481C-B182-53E83E27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28825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D8503-AD93-44DE-A5AE-C20E850E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336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&lt;60%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ADE3B-48B1-4FE9-8D31-AC6B5627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286125"/>
            <a:ext cx="2038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城市核心区车位利用率不足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05D65-A686-4336-95F7-AADF2298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28825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F080C-2343-4136-B3CB-D3098C80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28825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77757-041A-40F5-8EF2-234A97F6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336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15-30分钟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3A3FD-587D-4098-A513-9F3F084A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86125"/>
            <a:ext cx="2038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车主平均寻找车位耗时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BDE6D-4E5B-4799-AEF9-E917E039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28825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9FEFE-E54D-468C-BC8B-7A2BFCF5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28825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AD1E5-D3D2-4EE3-B564-0505FB2D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3336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30%+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75500-01ED-4315-AECF-A2D3C945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286125"/>
            <a:ext cx="2038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无效交通流占城市交通量比例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457FC-4ABC-4585-BB4C-442EE477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DD466-5204-4517-9073-23D2A216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项目判断：用模拟数据和可替换接口先跑通业务闭环，比在实训阶段强依赖真实 AI、GIS、支付和硬件更稳妥。</a:t>
            </a:r>
          </a:p>
        </p:txBody>
      </p:sp>
    </p:spTree>
    <p:extLst>
      <p:ext uri="{BB962C8B-B14F-4D97-AF65-F5344CB8AC3E}">
        <p14:creationId xmlns:p14="http://schemas.microsoft.com/office/powerpoint/2010/main" val="5675884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89A414-93FC-4ABD-A23F-030E4BF1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范围定义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7CD8C-C1C9-4391-A4FE-D2CE9FFF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5534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V1.0 先把车主停车和车场运营闭环跑通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E0E1E-D198-4F33-B4F4-1A990636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7242C-0DF8-4D42-B435-083874E0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356235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A073F-1672-416B-8E63-4F5DCCFB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1430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157AE-C918-44DD-977F-676CE8C8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P0 已实现为主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CF269-1127-450B-8110-03B716EE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85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停车场数据接入</a:t>
            </a:r>
          </a:p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城市停车一张图</a:t>
            </a:r>
          </a:p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车位预约与到场确认</a:t>
            </a:r>
          </a:p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车牌识别与无感支付</a:t>
            </a:r>
          </a:p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运营管理后台</a:t>
            </a:r>
          </a:p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车主移动端入口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B4E1C-288E-4E9A-95A4-4132C0F1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356235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775C5-BA4B-45A0-8FC5-A3E11F8F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11430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B5A06-E068-4632-A40E-64E28AEE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43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P1 作为增强方向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2F7D1-0036-4B98-95F0-D918B71F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28950"/>
            <a:ext cx="285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视觉检测、诱导发布、行为分析、动态定价、共享停车、反向寻车和监管平台在设计中保留边界。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A9FA7-2FFB-409C-9788-434EACE8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56235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2EFFE-FA7A-43B0-A102-4265D67C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11430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81724-0DE8-478C-871F-12AC8836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43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P2 作为扩展储备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153BA-310F-48EE-AADD-2B98B6BD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28950"/>
            <a:ext cx="285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充电车位、违停取证、月卡、设备运维、商圈营销通过模拟数据和预留接口表达后续空间。</a:t>
            </a:r>
          </a:p>
        </p:txBody>
      </p:sp>
    </p:spTree>
    <p:extLst>
      <p:ext uri="{BB962C8B-B14F-4D97-AF65-F5344CB8AC3E}">
        <p14:creationId xmlns:p14="http://schemas.microsoft.com/office/powerpoint/2010/main" val="476816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30D548-7262-47AC-8DFA-41C8B43E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业务闭环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50B1A-3A6E-4808-92C2-FE77D0AE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5534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核心流程从搜索到支付形成端到端闭环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4DC0F-7874-4916-8F18-88C5775D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73D6D-5A44-44D8-B3E1-4D90A66A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701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15b6e34ad4be8"/>
          <a:stretch xmlns:a="http://schemas.openxmlformats.org/drawingml/2006/main"/>
        </p:blipFill>
        <p:spPr>
          <a:xfrm xmlns:a="http://schemas.openxmlformats.org/drawingml/2006/main">
            <a:off x="793332" y="2019300"/>
            <a:ext cx="6223836" cy="3638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E3723-0F20-46AD-BA90-92AB4D48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05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690E0-5D94-462C-9FD5-93AC5682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57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从车主动作看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48ADB-8216-446E-90D2-0E647A5A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67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04915-5A52-4F61-9D98-1C845146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搜索目的地后查看一张图，按距离、价格和空位筛选车场。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2E635-BC66-4487-8E87-8B60086D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0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58B11-F821-4691-BF03-B4F3BEE5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147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预约车位后锁定 15 分钟，到场确认把状态写入预约和车位。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D0A99-C4EC-41E2-9567-FEC19F9D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14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FEFDE-7943-4C80-80BB-4F8CB5B5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入场、出场和支付以模拟车牌识别与订单状态流转完成演示。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87A60-3A4B-410E-A589-4658B28C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38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724AC-C572-4530-B110-CD191E19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625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支付后释放车位，订单和停车记录沉淀到后台统计。</a:t>
            </a:r>
          </a:p>
        </p:txBody>
      </p:sp>
    </p:spTree>
    <p:extLst>
      <p:ext uri="{BB962C8B-B14F-4D97-AF65-F5344CB8AC3E}">
        <p14:creationId xmlns:p14="http://schemas.microsoft.com/office/powerpoint/2010/main" val="10881945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3263E9-8528-42D2-883D-E0A39B2A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技术架构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57A28-51CB-4A33-8789-7139608F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5534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前后端分离架构让演示环境保持轻量可替换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C0E36-7AE6-4D84-8200-D6B1D959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C2B1E-5EAD-4AEE-80AA-92B1D767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0eba3ceda4f7e"/>
          <a:stretch xmlns:a="http://schemas.openxmlformats.org/drawingml/2006/main"/>
        </p:blipFill>
        <p:spPr>
          <a:xfrm xmlns:a="http://schemas.openxmlformats.org/drawingml/2006/main">
            <a:off x="691565" y="1943100"/>
            <a:ext cx="6484520" cy="3790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5209D-45D0-4C9E-9C6D-BB351CC7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9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6770A-35E7-4334-AA43-0A0E7E55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62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技术栈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3EF30-F2CF-4825-8D1A-05F3AFA8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5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D904A-0C18-4DC7-8234-D0A692A0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336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Vue3 / Element Plus / Vite / Axios / Pinia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C4F92-A124-41E0-9F87-89B8725A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10FF1-8F25-4A7E-A19E-9CAE471C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766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3E693-5910-4FD2-8027-6C470A33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575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FastAPI / SQLAlchemy / SQLite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15B29-A862-4527-BFA3-4F112480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290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11B1A-2DBC-4BDC-8386-5A8E1C09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892F9-3117-4A72-A67B-A7CACB76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RESTful JSON，本地开发 5173 ↔ 8000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5D99E-5741-41DE-9EFB-E019D16B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529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F0554-F704-4C42-BA22-260CB5F6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244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策略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E6369-74B9-4219-AF00-08598C2E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053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AI、GIS、支付和硬件能力以模拟服务与接口预留表达</a:t>
            </a:r>
          </a:p>
        </p:txBody>
      </p:sp>
    </p:spTree>
    <p:extLst>
      <p:ext uri="{BB962C8B-B14F-4D97-AF65-F5344CB8AC3E}">
        <p14:creationId xmlns:p14="http://schemas.microsoft.com/office/powerpoint/2010/main" val="5713958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5DF0EA-1C38-41D1-9C99-01764BCD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数据设计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D4EDE-06A0-40CE-9336-544C3D64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5534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数据模型围绕车场、车位、预约和订单组织状态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B9071-7969-4A68-90D0-4D2BDADB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5D9F2-D8ED-4C2F-BEC7-10935E20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0050"/>
            <a:ext cx="5543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V1.0 代码中落地 6 张核心表，支撑用户认证、停车场列表、车位状态、预约锁定、入出场订单和数据同步日志。模型保持小而完整，便于课堂演示和后续扩展。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610DD-79CD-40FE-8047-E705B951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5543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24006-058F-4CD9-A7F1-C2C779F2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33A07-E241-4F72-978C-0014895A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000000"/>
                </a:solidFill>
                <a:latin typeface="Aptos Mono"/>
                <a:ea typeface="Aptos Mono"/>
                <a:cs typeface="Aptos Mono"/>
              </a:rPr>
              <a:t>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46D9A-657D-47F0-B2F9-025B7282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用户、角色、车牌信息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3FBC4-A196-405A-9B17-ACCF8D92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28825"/>
            <a:ext cx="5543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95F6A-7FE7-4A22-AA27-43B5EF3B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28825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A37CE-975B-40BA-A288-7A3ADA4F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002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000000"/>
                </a:solidFill>
                <a:latin typeface="Aptos Mono"/>
                <a:ea typeface="Aptos Mono"/>
                <a:cs typeface="Aptos Mono"/>
              </a:rPr>
              <a:t>parking_lots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5A0A6-9E88-4F2A-B1D1-60134085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622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车场位置、总车位、空位、价格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75AFE-A15F-49DF-9A61-AD84B035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28975"/>
            <a:ext cx="5543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FDDF5-A2DE-473C-A82D-A31A53D8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28975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F9BC0-C7C4-4B7C-B36D-D9907D24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000000"/>
                </a:solidFill>
                <a:latin typeface="Aptos Mono"/>
                <a:ea typeface="Aptos Mono"/>
                <a:cs typeface="Aptos Mono"/>
              </a:rPr>
              <a:t>parking_spots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ACC44-9250-4416-9CC1-79FB73C9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车位编号与 free/reserved/occupied 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171B6-D260-4381-9B3C-F9FB2988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28975"/>
            <a:ext cx="5543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05232-854B-4C49-AD2E-BFEA77C6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28975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CAAE9-AB19-464D-8995-AB6686A9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004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000000"/>
                </a:solidFill>
                <a:latin typeface="Aptos Mono"/>
                <a:ea typeface="Aptos Mono"/>
                <a:cs typeface="Aptos Mono"/>
              </a:rPr>
              <a:t>reservations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E6DBC-172D-4AC4-B310-A47CE756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762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15 分钟锁定、确认、取消、过期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5F5481-CB33-4EFF-877D-7F77D6B9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5543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B17FB-FAA0-40F9-9755-4D016957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02B9D-680C-4793-8C4A-641FE253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000000"/>
                </a:solidFill>
                <a:latin typeface="Aptos Mono"/>
                <a:ea typeface="Aptos Mono"/>
                <a:cs typeface="Aptos Mono"/>
              </a:rPr>
              <a:t>orders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E579B-DA76-4DE2-B05E-D0ACD1FF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入场、出场、计费、支付状态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0817FC-2BA9-4B91-ABDA-17213F72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29125"/>
            <a:ext cx="5543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9B0D48-FC04-42EE-986F-E7DACA0F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29125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D3C257-5D88-4C0B-9224-CFB9A698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005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000000"/>
                </a:solidFill>
                <a:latin typeface="Aptos Mono"/>
                <a:ea typeface="Aptos Mono"/>
                <a:cs typeface="Aptos Mono"/>
              </a:rPr>
              <a:t>sync_logs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CA5DC4-25E2-49ED-BF2E-C1CB5C12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9625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车场数据同步记录</a:t>
            </a:r>
          </a:p>
        </p:txBody>
      </p:sp>
    </p:spTree>
    <p:extLst>
      <p:ext uri="{BB962C8B-B14F-4D97-AF65-F5344CB8AC3E}">
        <p14:creationId xmlns:p14="http://schemas.microsoft.com/office/powerpoint/2010/main" val="16341114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4DF26B-23E2-438E-AA62-FE2C5E04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车主体验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D715F-499F-4E2D-9586-D7F87720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5534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车主端覆盖找车、预约、支付、记录和寻车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EFAB2-639A-4A32-94B7-70A23128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294A0-CF14-41DE-B113-BF3CD1E6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8097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b045d5d5a40a7"/>
          <a:stretch xmlns:a="http://schemas.openxmlformats.org/drawingml/2006/main"/>
        </p:blipFill>
        <p:spPr>
          <a:xfrm xmlns:a="http://schemas.openxmlformats.org/drawingml/2006/main">
            <a:off x="762000" y="2139043"/>
            <a:ext cx="1657350" cy="299901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9B456-BFC4-48BD-82C1-10B1E302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81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搜索和筛选车场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34670-7B06-4CD1-A692-0522E3ED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66900"/>
            <a:ext cx="18097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6278cd5354377"/>
          <a:stretch xmlns:a="http://schemas.openxmlformats.org/drawingml/2006/main"/>
        </p:blipFill>
        <p:spPr>
          <a:xfrm xmlns:a="http://schemas.openxmlformats.org/drawingml/2006/main">
            <a:off x="3105150" y="2139043"/>
            <a:ext cx="1657350" cy="299901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609AD-8669-4558-89C1-DF360F35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581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预约倒计时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17094-7804-48FE-BC0C-F04E2BD2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66900"/>
            <a:ext cx="18097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fa83e33d34b52"/>
          <a:stretch xmlns:a="http://schemas.openxmlformats.org/drawingml/2006/main"/>
        </p:blipFill>
        <p:spPr>
          <a:xfrm xmlns:a="http://schemas.openxmlformats.org/drawingml/2006/main">
            <a:off x="5448300" y="2139043"/>
            <a:ext cx="1657350" cy="2999014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E1563-C375-48B8-94A8-12873888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581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出场支付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9376A-9113-4E45-B351-20B34679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43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0FF0B-A386-4701-BA65-DBF23589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体验重点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AA6AE-4764-4050-98FB-71AF5FB3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99CE7-AF16-4F9C-8830-83111119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首页把车场列表、空位、价格和距离放在首屏，先降低找车成本。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831EF-2AF3-4BEC-B2B2-6699EE4C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480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56F8B0-783E-4371-B458-39C29A9A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预约页用倒计时表达 15 分钟锁定规则，用户能确认或取消。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6FCF3-2C46-43A8-B98A-B1555725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2D5FB-6214-4A22-9419-A65591F5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957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支付页把计费、优惠和实付金额集中展示，支撑模拟无感支付闭环。</a:t>
            </a:r>
          </a:p>
        </p:txBody>
      </p:sp>
    </p:spTree>
    <p:extLst>
      <p:ext uri="{BB962C8B-B14F-4D97-AF65-F5344CB8AC3E}">
        <p14:creationId xmlns:p14="http://schemas.microsoft.com/office/powerpoint/2010/main" val="16668718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2D857F-B95D-4844-B3DF-3AA12E9C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运营后台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9D47D-A562-41D0-AD68-93418536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5534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管理端把车场运营、接入和策略集中在一处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32F88-9E84-46D9-95C8-0FD72540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EA157-708E-44F7-936B-7FDE8358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8097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74f26956c4a60"/>
          <a:stretch xmlns:a="http://schemas.openxmlformats.org/drawingml/2006/main"/>
        </p:blipFill>
        <p:spPr>
          <a:xfrm xmlns:a="http://schemas.openxmlformats.org/drawingml/2006/main">
            <a:off x="762000" y="2139043"/>
            <a:ext cx="1657350" cy="299901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DE738-1DDA-429A-A0DD-8A9178B7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81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运营概览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FBC73-2791-4560-AA16-32A3B877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66900"/>
            <a:ext cx="18097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d0c12637349c2"/>
          <a:stretch xmlns:a="http://schemas.openxmlformats.org/drawingml/2006/main"/>
        </p:blipFill>
        <p:spPr>
          <a:xfrm xmlns:a="http://schemas.openxmlformats.org/drawingml/2006/main">
            <a:off x="3105150" y="2139043"/>
            <a:ext cx="1657350" cy="299901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49457-6EAB-487A-843A-280015FB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581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数据接入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E2D89-087D-428A-AE33-87D54799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66900"/>
            <a:ext cx="18097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0c37f6db14637"/>
          <a:stretch xmlns:a="http://schemas.openxmlformats.org/drawingml/2006/main"/>
        </p:blipFill>
        <p:spPr>
          <a:xfrm xmlns:a="http://schemas.openxmlformats.org/drawingml/2006/main">
            <a:off x="5448300" y="2139043"/>
            <a:ext cx="1657350" cy="2999014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17AE4-1721-4149-B8C0-C3AC27E2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581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动态定价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EEE44-CAC9-4EB8-B69B-22A768CF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43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88045-EFAA-4DD0-B50B-E8CC2A7E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后台价值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03DAE-EBA6-4443-808C-11D644BE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EFD1C-6089-461C-9B74-1367A395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仪表盘展示总车位、占用、利用率、收入和异常告警。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4805F-4134-450C-9B6D-28DB9DCF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480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FC99B-04E7-4104-9C7A-F9B27D90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数据接入页记录车场在线状态、空位和同步时间，覆盖 M2。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266F4-E6F3-4B0C-86BA-04CE16B3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DDA51F-8E50-48B2-96B9-6D5AFDD5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957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策略页把动态定价规则做成可配置能力，为 P1/P2 扩展留入口。</a:t>
            </a:r>
          </a:p>
        </p:txBody>
      </p:sp>
    </p:spTree>
    <p:extLst>
      <p:ext uri="{BB962C8B-B14F-4D97-AF65-F5344CB8AC3E}">
        <p14:creationId xmlns:p14="http://schemas.microsoft.com/office/powerpoint/2010/main" val="1350267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C9B4CE-5082-494C-8F49-491F9FC2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测试结果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5AAAA-0C6C-4A3E-8A4E-CE9A6348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5534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38 条功能测试验证了 MVP 闭环可运行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42778-88B9-4C21-B357-8C8D6123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7B13B-6F2C-4103-9A43-B32DE499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0050"/>
            <a:ext cx="5543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测试报告覆盖认证、停车场、预约、支付、订单、管理后台和数据接入。所有用例通过，说明 V1.0 的 P0 主体功能已经完成前后端联调。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001AC-9108-4CDB-815A-7CABEE38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FBEEA-19AE-46BC-8D2E-471ACC88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69721-8BF3-4196-A751-4EDB2B57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3B37A-827B-428A-93F0-58F219B0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2038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功能测试用例总数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13483-D2E8-4110-9A88-257EBE95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28825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3FA8D-76D9-40AF-8907-BA0F8B5A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28825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11811-0649-4EF3-8F23-A765CADA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336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A95A4-618F-44A0-8DEF-AB64E601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286125"/>
            <a:ext cx="2038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通过用例数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E2A38-346B-4CD6-98CB-3A064426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28825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E98F7-EDDF-429F-B12A-5A9C1994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28825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A5814-9888-4BF7-A361-04DA8D89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336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5214B-7D9C-4A38-9629-70D139A0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86125"/>
            <a:ext cx="2038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失败和阻塞用例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CEA1D-6239-4FA7-B058-CFDCEE25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28825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7391F-42E6-4A96-8C03-900ECCFF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28825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229D54-CD9F-443C-8225-80698236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3336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C294E-543B-4126-9BD2-C6EEDB1C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286125"/>
            <a:ext cx="2038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测试通过率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E01D2-897B-4160-9A24-DCE06D20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144784-144F-4BF0-8459-348C25F1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已验证端到端路径：搜索停车场 → 预约车位 → 模拟入场 → 出场计费 → 模拟支付 → 后台统计。</a:t>
            </a:r>
          </a:p>
        </p:txBody>
      </p:sp>
    </p:spTree>
    <p:extLst>
      <p:ext uri="{BB962C8B-B14F-4D97-AF65-F5344CB8AC3E}">
        <p14:creationId xmlns:p14="http://schemas.microsoft.com/office/powerpoint/2010/main" val="3406392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1177BE-A2B0-4BE8-AD4A-14F498A0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FDBF3-F19B-44BA-BE85-E64205E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5534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项目交付物覆盖从立项到测试的完整工程过程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71372-D076-4293-9495-FC34F324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110F4-DDE3-422E-A703-CFD5DC2B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28B57-D46A-496A-A853-3CE7B8D1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09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项目立项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89E76-3DB9-4D08-AFF4-EBB59F39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479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明确背景、范围、成员分工和可行性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A74E9-BCF4-48B9-9D9D-5BF7D8C6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D2D3B-B79A-42E3-B501-25DB43CB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859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2DABC-8455-4361-BCFB-BB178E74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809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项目计划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EB447-61A7-4B7F-9D41-21F9E9E4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2479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形成 WBS、进度安排和阶段交付节奏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CA58E-584F-483F-8861-CBC77F83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8575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92A8E-87ED-460C-8238-9C45BBD3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03B21-0CBF-4000-97B9-5A47B3C0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24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E482D-1FC6-490E-BB65-AFAA2405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623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沉淀 18 个模块、SRS、用例图和追踪矩阵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8BBC4-67EC-4797-83AA-17314A4A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719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3A3BE-1B3D-4E1D-A40F-462F8D3C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0040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5C35D-C053-4F41-BBCA-9784BDB9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124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3E619A-22C4-4366-9BAE-DCE5A98E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5623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完成架构、接口、数据库、界面和出错处理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0C3AB-FD88-4FE2-9D08-6CF4B4DF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1719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B399D-8B5B-4276-B666-A8300D96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FCFC7-74B1-4AD1-A784-44108F7C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编码实现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8140C-BDA6-4A47-837C-D798BCF4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76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前后端联调，形成 SmartPark V1.0 MVP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7C7099-118B-453C-86C2-C174DF15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864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6B314-8EFB-4C61-BB1B-99CB7D34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148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B9F8DA-5BB3-4C5B-B93C-B256599F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438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功能测试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386EBB-D188-41B5-B1C8-421CDB81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876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38 条用例全部通过，未发现缺陷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0BCC7C-289F-4AD2-BB93-75B53D54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4864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15644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50A1C0-CE6A-4279-B618-4AB7EC9E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2AE97-DCF2-4495-B22E-CAECCEC4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5534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下一步从可演示走向更真实的智慧停车系统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C06ED-FBA3-4E46-8135-04514F4D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E6615-121E-4CA1-A8C0-B68CEB65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543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V1.0 已经证明核心闭环成立；后续重点不是继续堆页面，而是提高真实场景适配、异常韧性和数据分析深度。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9C5B3-7D0B-4A06-A9D3-FB86CCD1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3A84C-5664-4087-B62F-674999E1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补充并发预约、异常网络和移动端适配测试。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045EA-E3DE-4B6B-B12C-C04F01AB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7723B-2300-4655-A114-EF0DA57F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把模拟 AI/GIS/支付/硬件接口替换为可配置服务适配层。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4C469-AA79-4862-9681-A50F9A57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038D3-E736-4412-9E13-2970DD94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扩大 P1/P2 模块落地范围，完善监管、定价、运维和营销能力。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F4C5C-F1F0-40DF-909B-29AE7BEA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0"/>
            <a:ext cx="4819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3E937-497D-4748-9009-0FF0862E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38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一句话结论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A096BD-2793-4813-8FAE-F917D63A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SmartPark V1.0 已用轻量技术栈跑通停车服务闭环，为后续接入真实感知、支付和城市监管能力打好了结构基础。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1CFAE-230F-4B8D-B723-B9D7011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24141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2026-07-04T00:48:44.1810000Z</dcterms:created>
  <dcterms:modified xsi:type="dcterms:W3CDTF">2026-07-04T00:48:44.1810000Z</dcterms:modified>
</coreProperties>
</file>