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95750" y="0"/>
            <a:ext cx="552450" cy="68580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666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课程实训结课展示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695450"/>
            <a:ext cx="6858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智慧停车管理系统</a:t>
            </a:r>
            <a:endParaRPr sz="4350" b="1">
              <a:solidFill>
                <a:srgbClr val="FFFFFF"/>
              </a:solidFill>
            </a:endParaRPr>
          </a:p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V3.0</a:t>
            </a:r>
            <a:endParaRPr sz="43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34861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BEAFE"/>
                </a:solidFill>
              </a:defRPr>
            </a:pPr>
            <a:r>
              <a:rPr sz="1650" b="0">
                <a:solidFill>
                  <a:srgbClr val="DBEAFE"/>
                </a:solidFill>
              </a:rPr>
              <a:t>城市停车一张图  本地评分推荐  预约订单闭环  运营管理后台</a:t>
            </a:r>
            <a:endParaRPr sz="1650" b="0">
              <a:solidFill>
                <a:srgbClr val="DBEAFE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096250" y="1600200"/>
            <a:ext cx="2857500" cy="295275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96250" y="2019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6B6D4"/>
                </a:solidFill>
              </a:defRPr>
            </a:pPr>
            <a:r>
              <a:rPr sz="2250" b="1">
                <a:solidFill>
                  <a:srgbClr val="06B6D4"/>
                </a:solidFill>
              </a:rPr>
              <a:t>SYSTEM</a:t>
            </a:r>
            <a:endParaRPr sz="2250" b="1">
              <a:solidFill>
                <a:srgbClr val="06B6D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401050" y="2781300"/>
            <a:ext cx="2266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结课展示版</a:t>
            </a:r>
            <a:endParaRPr sz="1800" b="1">
              <a:solidFill>
                <a:srgbClr val="FFFFFF"/>
              </a:solidFill>
            </a:endParaRP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可运行 · 可演示 · 可提交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496300" y="3848100"/>
            <a:ext cx="2076450" cy="342900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6172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SmartParkCloudLink-hdjd</a:t>
            </a:r>
            <a:endParaRPr sz="1050" b="1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展示主线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这次展示围绕一条停车业务闭环展开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从停车痛点出发，说明系统能力、核心流程、技术实现和最终交付结果。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展示主线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38200" y="2343150"/>
            <a:ext cx="2286000" cy="209550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2343150"/>
            <a:ext cx="22860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25717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01  为什么做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2990850"/>
            <a:ext cx="18669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停车信息不透明、车位状态不联动、运营数据分散，影响车主体验和管理效率。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562350" y="2343150"/>
            <a:ext cx="2286000" cy="209550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562350" y="2343150"/>
            <a:ext cx="2286000" cy="47625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771900" y="25717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02  做成什么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771900" y="2990850"/>
            <a:ext cx="18669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系统覆盖地图找位、评分推荐、预约锁位、订单支付、反向寻车和后台统计。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2343150"/>
            <a:ext cx="2286000" cy="2095500"/>
          </a:xfrm>
          <a:prstGeom prst="roundRect">
            <a:avLst>
              <a:gd name="adj" fmla="val 3636"/>
            </a:avLst>
          </a:prstGeom>
          <a:solidFill>
            <a:srgbClr val="FFF7ED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343150"/>
            <a:ext cx="228600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96050" y="25717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03  怎么跑通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96050" y="2990850"/>
            <a:ext cx="18669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按一条车主旅程演示登录、搜索、推荐、预约、入场、寻车、出场支付。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010650" y="2343150"/>
            <a:ext cx="2286000" cy="2095500"/>
          </a:xfrm>
          <a:prstGeom prst="roundRect">
            <a:avLst>
              <a:gd name="adj" fmla="val 3636"/>
            </a:avLst>
          </a:prstGeom>
          <a:solidFill>
            <a:srgbClr val="ECFE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010650" y="2343150"/>
            <a:ext cx="2286000" cy="4762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220200" y="25717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6B6D4"/>
                </a:solidFill>
              </a:defRPr>
            </a:pPr>
            <a:r>
              <a:rPr sz="1725" b="1">
                <a:solidFill>
                  <a:srgbClr val="06B6D4"/>
                </a:solidFill>
              </a:rPr>
              <a:t>04  如何交付</a:t>
            </a:r>
            <a:endParaRPr sz="1725" b="1">
              <a:solidFill>
                <a:srgbClr val="06B6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20200" y="2990850"/>
            <a:ext cx="18669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用前后端代码、启动说明、接口文档和演示脚本支撑结课展示。</a:t>
            </a:r>
            <a:endParaRPr sz="1275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项目背景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项目要解决的是车位信息和停车流程没有联动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系统把车主决策、车场状态和后台运营放到同一条业务链路中。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项目背景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81050" y="2190750"/>
            <a:ext cx="3190875" cy="238125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190750"/>
            <a:ext cx="3190875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2419350"/>
            <a:ext cx="2771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车主侧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2838450"/>
            <a:ext cx="27717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到达目的地前难判断哪里有空位；停车后订单、支付、寻车分散在不同流程里。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95800" y="2190750"/>
            <a:ext cx="3190875" cy="2381250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495800" y="2190750"/>
            <a:ext cx="3190875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705350" y="2419350"/>
            <a:ext cx="2771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车场侧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05350" y="2838450"/>
            <a:ext cx="27717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车位库存、预约状态和入出场事件需要同步，否则容易出现超约和状态错乱。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210550" y="2190750"/>
            <a:ext cx="3190875" cy="238125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210550" y="2190750"/>
            <a:ext cx="3190875" cy="47625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420100" y="2419350"/>
            <a:ext cx="2771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管理侧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20100" y="2838450"/>
            <a:ext cx="27717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运营人员需要看到车场、车位、订单和收入统计，支持日常管理和展示汇报。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43000" y="51435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项目回应：先打通“找位、预约、入场、寻车、支付、后台统计”的核心闭环。</a:t>
            </a:r>
            <a:endParaRPr sz="1650" b="1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交付成果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V3.0 交付了一套可运行的智慧停车演示系统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结课展示重点看系统是否能启动、能讲清、能跑通、能提交。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交付成果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04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2266950"/>
            <a:ext cx="2095500" cy="1123950"/>
          </a:xfrm>
          <a:prstGeom prst="roundRect">
            <a:avLst>
              <a:gd name="adj" fmla="val 6780"/>
            </a:avLst>
          </a:prstGeom>
          <a:solidFill>
            <a:srgbClr val="EFF6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6300" y="2476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7</a:t>
            </a:r>
            <a:endParaRPr sz="2550" b="1">
              <a:solidFill>
                <a:srgbClr val="2563E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29527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核心业务模块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562350" y="2266950"/>
            <a:ext cx="2095500" cy="1123950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62350" y="2476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2</a:t>
            </a:r>
            <a:endParaRPr sz="2550" b="1">
              <a:solidFill>
                <a:srgbClr val="16A3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676650" y="29527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用户角色入口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248400" y="2266950"/>
            <a:ext cx="2095500" cy="1123950"/>
          </a:xfrm>
          <a:prstGeom prst="roundRect">
            <a:avLst>
              <a:gd name="adj" fmla="val 6780"/>
            </a:avLst>
          </a:prstGeom>
          <a:solidFill>
            <a:srgbClr val="FFF7ED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248400" y="2476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6</a:t>
            </a:r>
            <a:endParaRPr sz="2550" b="1">
              <a:solidFill>
                <a:srgbClr val="F9731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62700" y="29527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后端路由分组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934450" y="2266950"/>
            <a:ext cx="2095500" cy="1123950"/>
          </a:xfrm>
          <a:prstGeom prst="roundRect">
            <a:avLst>
              <a:gd name="adj" fmla="val 6780"/>
            </a:avLst>
          </a:prstGeom>
          <a:solidFill>
            <a:srgbClr val="ECFE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34450" y="2476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1</a:t>
            </a:r>
            <a:endParaRPr sz="2550" b="1">
              <a:solidFill>
                <a:srgbClr val="06B6D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48750" y="29527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完整演示主线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76300" y="4057650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4057650"/>
            <a:ext cx="30480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85850" y="428625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可运行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85850" y="4705350"/>
            <a:ext cx="2628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Vue 3 + FastAPI + SQLite，可按 README 启动前后端。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4572000" y="4057650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572000" y="4057650"/>
            <a:ext cx="3048000" cy="47625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781550" y="428625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可演示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781550" y="4705350"/>
            <a:ext cx="2628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车主端和管理端覆盖核心业务闭环。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267700" y="4057650"/>
            <a:ext cx="3048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267700" y="4057650"/>
            <a:ext cx="304800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477250" y="428625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可提交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477250" y="4705350"/>
            <a:ext cx="2628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代码、文档、演示文件和启动说明形成结课材料。</a:t>
            </a:r>
            <a:endParaRPr sz="1275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角色与入口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系统把普通用户和管理员分成两条清晰入口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结课展示时先用普通用户跑停车流程，再用管理员后台收束数据。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角色与入口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05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57250" y="2190750"/>
            <a:ext cx="4762500" cy="2762250"/>
          </a:xfrm>
          <a:prstGeom prst="roundRect">
            <a:avLst>
              <a:gd name="adj" fmla="val 2759"/>
            </a:avLst>
          </a:prstGeom>
          <a:solidFill>
            <a:srgbClr val="EFF6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2190750"/>
            <a:ext cx="47625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2419350"/>
            <a:ext cx="434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普通用户 User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2838450"/>
            <a:ext cx="43434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演示账号：user / user123</a:t>
            </a:r>
            <a:endParaRPr sz="1275" b="0">
              <a:solidFill>
                <a:srgbClr val="1F2937"/>
              </a:solidFill>
            </a:endParaRPr>
          </a:p>
          <a:p>
            <a:endParaRPr sz="1275"/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进入首页地图，完成目的地搜索、推荐查看、预约车位、订单支付、反向寻车和个人信息管理。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572250" y="2190750"/>
            <a:ext cx="4762500" cy="276225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572250" y="2190750"/>
            <a:ext cx="4762500" cy="47625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781800" y="2419350"/>
            <a:ext cx="434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管理员 Admin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781800" y="2838450"/>
            <a:ext cx="43434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演示账号：admin / admin123</a:t>
            </a:r>
            <a:endParaRPr sz="1275" b="0">
              <a:solidFill>
                <a:srgbClr val="1F2937"/>
              </a:solidFill>
            </a:endParaRPr>
          </a:p>
          <a:p>
            <a:endParaRPr sz="1275"/>
          </a:p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进入后台看板，查看车场概览、车位状态、订单列表和运营统计，验证前台行为沉淀为后台数据。</a:t>
            </a:r>
            <a:endParaRPr sz="1275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95750" y="0"/>
            <a:ext cx="552450" cy="68580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85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PART 01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000250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产品能力全景</a:t>
            </a:r>
            <a:endParaRPr sz="31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0" y="272415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先看系统对车主和管理员提供了哪些可演示能力，再串成一条完整停车旅程。</a:t>
            </a:r>
            <a:endParaRPr sz="1425" b="0">
              <a:solidFill>
                <a:srgbClr val="CBD5E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2103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  <a:endParaRPr sz="9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首页地图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车主端从目的地搜索开始完成停车决策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首页地图把目标点、周边停车地、系统车场和预约入口放在同一屏。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首页地图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07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286000"/>
            <a:ext cx="95250" cy="9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2209800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输入目的地后调用高德地图能力，定位目标并检索周边停车场。</a:t>
            </a:r>
            <a:endParaRPr sz="1425" b="0">
              <a:solidFill>
                <a:srgbClr val="1F293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952750"/>
            <a:ext cx="95250" cy="952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2876550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系统内车场展示实时空位、价格和距离，可进入详情或直接预约。</a:t>
            </a:r>
            <a:endParaRPr sz="1425" b="0">
              <a:solidFill>
                <a:srgbClr val="1F293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4400" y="3619500"/>
            <a:ext cx="95250" cy="952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81100" y="3543300"/>
            <a:ext cx="628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第三方停车 POI 提供导航入口，系统内车场支撑真实业务状态。</a:t>
            </a:r>
            <a:endParaRPr sz="1425" b="0">
              <a:solidFill>
                <a:srgbClr val="1F2937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886700" y="2152650"/>
            <a:ext cx="321945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86700" y="3238500"/>
            <a:ext cx="3219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真实运行截图位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53400" y="3657600"/>
            <a:ext cx="2686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首页地图 / 目的地搜索 / 推荐列表</a:t>
            </a:r>
            <a:endParaRPr sz="1200" b="1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评分推荐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本地评分推荐把选择理由讲清楚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推荐不是黑盒，系统按距离、价格和空位计算综合得分，方便结课展示说明。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评分推荐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08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23431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距离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81250" y="23717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越近得分越高</a:t>
            </a:r>
            <a:endParaRPr sz="1275" b="0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953000" y="2400300"/>
            <a:ext cx="3905250" cy="209550"/>
          </a:xfrm>
          <a:prstGeom prst="roundRect">
            <a:avLst>
              <a:gd name="adj" fmla="val 27273"/>
            </a:avLst>
          </a:prstGeom>
          <a:solidFill>
            <a:srgbClr val="EEF2F7"/>
          </a:solidFill>
          <a:ln w="0">
            <a:noFill/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4953000" y="2400300"/>
            <a:ext cx="1638300" cy="20955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124950" y="23336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42%</a:t>
            </a:r>
            <a:endParaRPr sz="1425" b="1">
              <a:solidFill>
                <a:srgbClr val="2563E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43000" y="32385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价格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81250" y="32670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越低得分越高</a:t>
            </a:r>
            <a:endParaRPr sz="1275" b="0">
              <a:solidFill>
                <a:srgbClr val="64748B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953000" y="3295650"/>
            <a:ext cx="3905250" cy="209550"/>
          </a:xfrm>
          <a:prstGeom prst="roundRect">
            <a:avLst>
              <a:gd name="adj" fmla="val 27273"/>
            </a:avLst>
          </a:prstGeom>
          <a:solidFill>
            <a:srgbClr val="EEF2F7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4953000" y="3295650"/>
            <a:ext cx="1095375" cy="209550"/>
          </a:xfrm>
          <a:prstGeom prst="roundRect">
            <a:avLst>
              <a:gd name="adj" fmla="val 27273"/>
            </a:avLst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24950" y="322897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6A34A"/>
                </a:solidFill>
              </a:defRPr>
            </a:pPr>
            <a:r>
              <a:rPr sz="1425" b="1">
                <a:solidFill>
                  <a:srgbClr val="16A34A"/>
                </a:solidFill>
              </a:rPr>
              <a:t>28%</a:t>
            </a:r>
            <a:endParaRPr sz="1425" b="1">
              <a:solidFill>
                <a:srgbClr val="16A34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43000" y="41338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空位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81250" y="41624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剩余越多得分越高</a:t>
            </a:r>
            <a:endParaRPr sz="1275" b="0">
              <a:solidFill>
                <a:srgbClr val="64748B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953000" y="4191000"/>
            <a:ext cx="3905250" cy="209550"/>
          </a:xfrm>
          <a:prstGeom prst="roundRect">
            <a:avLst>
              <a:gd name="adj" fmla="val 27273"/>
            </a:avLst>
          </a:prstGeom>
          <a:solidFill>
            <a:srgbClr val="EEF2F7"/>
          </a:solidFill>
          <a:ln w="0">
            <a:noFill/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4953000" y="4191000"/>
            <a:ext cx="1171575" cy="209550"/>
          </a:xfrm>
          <a:prstGeom prst="roundRect">
            <a:avLst>
              <a:gd name="adj" fmla="val 27273"/>
            </a:avLst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24950" y="412432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30%</a:t>
            </a:r>
            <a:endParaRPr sz="1425" b="1">
              <a:solidFill>
                <a:srgbClr val="F97316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123950" y="5105400"/>
            <a:ext cx="9524365" cy="862965"/>
          </a:xfrm>
          <a:prstGeom prst="roundRect">
            <a:avLst>
              <a:gd name="adj" fmla="val 11429"/>
            </a:avLst>
          </a:prstGeom>
          <a:solidFill>
            <a:srgbClr val="ECFE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123950" y="5105400"/>
            <a:ext cx="9525000" cy="4762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333500" y="5334000"/>
            <a:ext cx="910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6B6D4"/>
                </a:solidFill>
              </a:defRPr>
            </a:pPr>
            <a:r>
              <a:rPr sz="1725" b="1">
                <a:solidFill>
                  <a:srgbClr val="06B6D4"/>
                </a:solidFill>
              </a:rPr>
              <a:t>推荐公式</a:t>
            </a:r>
            <a:endParaRPr sz="1725" b="1">
              <a:solidFill>
                <a:srgbClr val="06B6D4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33500" y="5600700"/>
            <a:ext cx="9105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综合评分 = 距离得分 × 42% + 价格得分 × 28% + 空位得分 × 30%。目的地或车场信息变化后，推荐列表会重新排序。</a:t>
            </a:r>
            <a:endParaRPr sz="1275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预约状态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预约与订单状态把车位库存联动起来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预约不只是写记录，还会影响车位状态，并在到场后转为停车订单。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预约状态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09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33450" y="230505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2476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可用车位</a:t>
            </a:r>
            <a:endParaRPr sz="1575" b="1">
              <a:solidFill>
                <a:srgbClr val="16A3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27813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free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647950" y="255270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  <a:endParaRPr sz="2100" b="1">
              <a:solidFill>
                <a:srgbClr val="94A3B8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067050" y="230505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162300" y="2476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预约锁位</a:t>
            </a:r>
            <a:endParaRPr sz="1575" b="1">
              <a:solidFill>
                <a:srgbClr val="2563E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81350" y="27813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created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81550" y="255270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  <a:endParaRPr sz="2100" b="1">
              <a:solidFill>
                <a:srgbClr val="94A3B8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200650" y="230505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295900" y="2476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停车中</a:t>
            </a:r>
            <a:endParaRPr sz="1575" b="1">
              <a:solidFill>
                <a:srgbClr val="F9731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14950" y="27813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parking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915150" y="255270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  <a:endParaRPr sz="2100" b="1">
              <a:solidFill>
                <a:srgbClr val="94A3B8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334250" y="230505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29500" y="2476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B6D4"/>
                </a:solidFill>
              </a:defRPr>
            </a:pPr>
            <a:r>
              <a:rPr sz="1575" b="1">
                <a:solidFill>
                  <a:srgbClr val="06B6D4"/>
                </a:solidFill>
              </a:rPr>
              <a:t>待支付</a:t>
            </a:r>
            <a:endParaRPr sz="1575" b="1">
              <a:solidFill>
                <a:srgbClr val="06B6D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48550" y="27813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pending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048750" y="255270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  <a:endParaRPr sz="2100" b="1">
              <a:solidFill>
                <a:srgbClr val="94A3B8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9467850" y="230505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563100" y="2476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已完成</a:t>
            </a:r>
            <a:endParaRPr sz="1575" b="1">
              <a:solidFill>
                <a:srgbClr val="16A3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82150" y="278130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paid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123950" y="4000500"/>
            <a:ext cx="4476750" cy="1200150"/>
          </a:xfrm>
          <a:prstGeom prst="roundRect">
            <a:avLst>
              <a:gd name="adj" fmla="val 6349"/>
            </a:avLst>
          </a:prstGeom>
          <a:solidFill>
            <a:srgbClr val="FFF7ED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23950" y="4000500"/>
            <a:ext cx="447675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333500" y="4229100"/>
            <a:ext cx="4057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释放规则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333500" y="4648200"/>
            <a:ext cx="4057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预约取消或超过有效时间后，系统释放锁定车位，避免库存长期占用。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572250" y="4000500"/>
            <a:ext cx="4476750" cy="1200150"/>
          </a:xfrm>
          <a:prstGeom prst="roundRect">
            <a:avLst>
              <a:gd name="adj" fmla="val 6349"/>
            </a:avLst>
          </a:prstGeom>
          <a:solidFill>
            <a:srgbClr val="ECFDF5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572250" y="4000500"/>
            <a:ext cx="4476750" cy="47625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781800" y="4229100"/>
            <a:ext cx="4057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联动规则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781800" y="4648200"/>
            <a:ext cx="4057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确认到场或模拟入场后生成订单；支付完成后释放车位并归档记录。</a:t>
            </a:r>
            <a:endParaRPr sz="1275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入出场计费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模拟入出场让无设备环境也能跑通闭环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通过车牌事件模拟设备输入，演示订单生成、计费和支付状态流转。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入出场计费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10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62000" y="21526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2152650"/>
            <a:ext cx="3143250" cy="47625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71550" y="2381250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模拟入场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2800350"/>
            <a:ext cx="27241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选择车场和车牌，系统校验是否存在未完成订单，生成停车中订单并锁定车位。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524375" y="21526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7ED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24375" y="2152650"/>
            <a:ext cx="314325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733925" y="2381250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模拟出场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33925" y="2800350"/>
            <a:ext cx="27241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检索停车中订单，写入出场时间，按车场费率计算停车费用。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286750" y="21526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FF6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286750" y="2152650"/>
            <a:ext cx="314325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496300" y="2381250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订单支付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96300" y="2800350"/>
            <a:ext cx="27241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订单进入待支付状态，支付后释放车位，历史记录同步到用户端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524000" y="4762500"/>
            <a:ext cx="9144000" cy="781050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524000" y="4810125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真实运行截图位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790700" y="5229225"/>
            <a:ext cx="8610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入场订单 / 出场结算 / 待支付订单</a:t>
            </a:r>
            <a:endParaRPr sz="1200" b="1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车主服务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反向寻车和个人中心补齐车主体验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系统能从当前停车订单返回车场、车位、区域和寻车步骤。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车主服务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11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2286000"/>
            <a:ext cx="95250" cy="952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2209800"/>
            <a:ext cx="638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反向寻车主动展示停车中车辆，也支持车牌号查询。</a:t>
            </a:r>
            <a:endParaRPr sz="1425" b="0">
              <a:solidFill>
                <a:srgbClr val="1F293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2952750"/>
            <a:ext cx="95250" cy="95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2876550"/>
            <a:ext cx="638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我的订单展示停车中、待支付和已完成状态，便于演示支付闭环。</a:t>
            </a:r>
            <a:endParaRPr sz="1425" b="0">
              <a:solidFill>
                <a:srgbClr val="1F293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5350" y="3619500"/>
            <a:ext cx="95250" cy="952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3543300"/>
            <a:ext cx="638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停车记录和个人中心保留历史数据、手机号和车牌信息。</a:t>
            </a:r>
            <a:endParaRPr sz="1425" b="0">
              <a:solidFill>
                <a:srgbClr val="1F2937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924800" y="2133600"/>
            <a:ext cx="318135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924800" y="32194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真实运行截图位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0" y="3638550"/>
            <a:ext cx="2647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反向寻车 / 我的订单 / 个人中心</a:t>
            </a:r>
            <a:endParaRPr sz="1200" b="1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管理后台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管理后台把前台行为沉淀为运营数据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管理员视角用于展示车场概览、车位管理、订单管理和统计分析。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管理后台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12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38200" y="2152650"/>
            <a:ext cx="2362200" cy="200025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2152650"/>
            <a:ext cx="23622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238125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数据看板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2800350"/>
            <a:ext cx="1943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展示空闲车位、今日订单、收入趋势和车场饱和度。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581400" y="2152650"/>
            <a:ext cx="2362200" cy="200025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581400" y="2152650"/>
            <a:ext cx="2362200" cy="47625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790950" y="238125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车场管理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790950" y="2800350"/>
            <a:ext cx="1943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查看车场列表、车位状态，并支持后台释放车位。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324600" y="2152650"/>
            <a:ext cx="2362200" cy="200025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24600" y="2152650"/>
            <a:ext cx="236220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534150" y="238125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订单管理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34150" y="2800350"/>
            <a:ext cx="1943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按状态查询订单，核对前台操作是否同步到后台。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067800" y="2152650"/>
            <a:ext cx="2362200" cy="2000250"/>
          </a:xfrm>
          <a:prstGeom prst="roundRect">
            <a:avLst>
              <a:gd name="adj" fmla="val 3810"/>
            </a:avLst>
          </a:prstGeom>
          <a:solidFill>
            <a:srgbClr val="ECFE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067800" y="2152650"/>
            <a:ext cx="2362200" cy="4762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277350" y="238125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6B6D4"/>
                </a:solidFill>
              </a:defRPr>
            </a:pPr>
            <a:r>
              <a:rPr sz="1725" b="1">
                <a:solidFill>
                  <a:srgbClr val="06B6D4"/>
                </a:solidFill>
              </a:rPr>
              <a:t>统计分析</a:t>
            </a:r>
            <a:endParaRPr sz="1725" b="1">
              <a:solidFill>
                <a:srgbClr val="06B6D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77350" y="2800350"/>
            <a:ext cx="1943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支撑结课展示中的运营视角和数据闭环说明。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2000250" y="4686300"/>
            <a:ext cx="8191500" cy="80010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000250" y="47434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真实运行截图位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266950" y="5162550"/>
            <a:ext cx="7658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后台首页 / 车场详情 / 订单管理</a:t>
            </a:r>
            <a:endParaRPr sz="1200" b="1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95750" y="0"/>
            <a:ext cx="552450" cy="68580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85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PART 02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000250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技术架构与实现</a:t>
            </a:r>
            <a:endParaRPr sz="31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0" y="272415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再看前端、地图服务、后端接口和数据库如何共同支撑这条停车业务闭环。</a:t>
            </a:r>
            <a:endParaRPr sz="1425" b="0">
              <a:solidFill>
                <a:srgbClr val="CBD5E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2103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13</a:t>
            </a:r>
            <a:endParaRPr sz="9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系统架构</a:t>
            </a:r>
            <a:endParaRPr sz="1050" b="1">
              <a:solidFill>
                <a:srgbClr val="F9731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前后端分离架构让地图体验和业务状态各司其职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Vue 负责交互体验，FastAPI 负责业务规则，SQLite 保存演示数据。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系统架构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14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38200" y="2476500"/>
            <a:ext cx="2095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33450" y="26479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前端应用</a:t>
            </a:r>
            <a:endParaRPr sz="1575" b="1">
              <a:solidFill>
                <a:srgbClr val="2563E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2500" y="29527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Vue 3 / Element Plus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86100" y="27241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  <a:endParaRPr sz="2100" b="1">
              <a:solidFill>
                <a:srgbClr val="94A3B8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562350" y="2476500"/>
            <a:ext cx="2095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57600" y="26479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B6D4"/>
                </a:solidFill>
              </a:defRPr>
            </a:pPr>
            <a:r>
              <a:rPr sz="1575" b="1">
                <a:solidFill>
                  <a:srgbClr val="06B6D4"/>
                </a:solidFill>
              </a:rPr>
              <a:t>地图能力</a:t>
            </a:r>
            <a:endParaRPr sz="1575" b="1">
              <a:solidFill>
                <a:srgbClr val="06B6D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676650" y="29527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高德地图 JS API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10250" y="27241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  <a:endParaRPr sz="2100" b="1">
              <a:solidFill>
                <a:srgbClr val="94A3B8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286500" y="2476500"/>
            <a:ext cx="2095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81750" y="26479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业务接口</a:t>
            </a:r>
            <a:endParaRPr sz="1575" b="1">
              <a:solidFill>
                <a:srgbClr val="F9731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00800" y="29527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FastAPI Routers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34400" y="27241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  <a:endParaRPr sz="2100" b="1">
              <a:solidFill>
                <a:srgbClr val="94A3B8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010650" y="2476500"/>
            <a:ext cx="2095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05900" y="26479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数据持久化</a:t>
            </a:r>
            <a:endParaRPr sz="1575" b="1">
              <a:solidFill>
                <a:srgbClr val="16A34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24950" y="29527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SQLAlchemy / SQLite</a:t>
            </a:r>
            <a:endParaRPr sz="975" b="0">
              <a:solidFill>
                <a:srgbClr val="64748B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123950" y="4191000"/>
            <a:ext cx="9525000" cy="933450"/>
          </a:xfrm>
          <a:prstGeom prst="roundRect">
            <a:avLst>
              <a:gd name="adj" fmla="val 8163"/>
            </a:avLst>
          </a:prstGeom>
          <a:solidFill>
            <a:srgbClr val="FFF7ED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23950" y="4191000"/>
            <a:ext cx="952500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333500" y="4419600"/>
            <a:ext cx="9105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关键边界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33500" y="4838700"/>
            <a:ext cx="91059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高德地图负责目的地和周边 POI，系统内车场负责预约、入出场、订单、寻车和后台统计等可控业务状态。</a:t>
            </a:r>
            <a:endParaRPr sz="1275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接口与数据</a:t>
            </a:r>
            <a:endParaRPr sz="1050" b="1">
              <a:solidFill>
                <a:srgbClr val="F9731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接口和数据模型围绕停车闭环设计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路由与实体名称和业务场景一一对应，便于展示时解释系统实现。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接口与数据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15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76300" y="2152650"/>
            <a:ext cx="1043940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2152650"/>
            <a:ext cx="10439400" cy="4381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2266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后端路由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81350" y="2266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核心能力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10550" y="2266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关键实体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2628900"/>
            <a:ext cx="10439400" cy="49530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2686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auth</a:t>
            </a:r>
            <a:endParaRPr sz="1275" b="1">
              <a:solidFill>
                <a:srgbClr val="2563E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181350" y="26860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登录注册、用户信息、权限基础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10550" y="2686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User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62050" y="3181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lots / spots</a:t>
            </a:r>
            <a:endParaRPr sz="1275" b="1">
              <a:solidFill>
                <a:srgbClr val="2563E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181350" y="31813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车场列表、车位状态、附近车场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210550" y="3181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ParkingLot / ParkingSpot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3619500"/>
            <a:ext cx="10439400" cy="49530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62050" y="3676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reservations</a:t>
            </a:r>
            <a:endParaRPr sz="1275" b="1">
              <a:solidFill>
                <a:srgbClr val="2563EB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181350" y="36766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预约创建、确认、取消、过期释放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210550" y="3676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Reservation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62050" y="417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orders</a:t>
            </a:r>
            <a:endParaRPr sz="1275" b="1">
              <a:solidFill>
                <a:srgbClr val="2563EB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181350" y="4171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入出场事件、订单支付、停车记录、寻车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10550" y="4171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ParkingOrder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76300" y="4610100"/>
            <a:ext cx="10439400" cy="49530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62050" y="4667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admin / analytics</a:t>
            </a:r>
            <a:endParaRPr sz="1275" b="1">
              <a:solidFill>
                <a:srgbClr val="2563EB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181350" y="46672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后台看板、订单查询、运营统计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210550" y="4667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运营数据</a:t>
            </a:r>
            <a:endParaRPr sz="1275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762500" y="114300"/>
            <a:ext cx="2857500" cy="5715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114300"/>
            <a:ext cx="2286000" cy="571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0" y="114300"/>
            <a:ext cx="4762500" cy="571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419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展示收束</a:t>
            </a:r>
            <a:endParaRPr sz="1050" b="1">
              <a:solidFill>
                <a:srgbClr val="F9731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8191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最终落在一条可跑通的业务旅程上</a:t>
            </a:r>
            <a:endParaRPr sz="300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42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从普通用户到管理员后台，展示系统已经形成可运行、可演示、可维护的交付状态。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172200"/>
            <a:ext cx="10972800" cy="1333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7700" y="63436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展示收束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010900" y="6324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16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" y="2247900"/>
            <a:ext cx="125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241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01</a:t>
            </a:r>
            <a:endParaRPr sz="900" b="1">
              <a:solidFill>
                <a:srgbClr val="2563E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28700" y="23812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登录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038350" y="2247900"/>
            <a:ext cx="125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133600" y="241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02</a:t>
            </a:r>
            <a:endParaRPr sz="900" b="1">
              <a:solidFill>
                <a:srgbClr val="2563E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57450" y="23812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搜索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467100" y="2247900"/>
            <a:ext cx="125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562350" y="241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03</a:t>
            </a:r>
            <a:endParaRPr sz="900" b="1">
              <a:solidFill>
                <a:srgbClr val="2563EB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886200" y="23812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推荐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895850" y="2247900"/>
            <a:ext cx="125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91100" y="241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04</a:t>
            </a:r>
            <a:endParaRPr sz="900" b="1">
              <a:solidFill>
                <a:srgbClr val="2563E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14950" y="23812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预约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324600" y="2247900"/>
            <a:ext cx="1257300" cy="552450"/>
          </a:xfrm>
          <a:prstGeom prst="roundRect">
            <a:avLst>
              <a:gd name="adj" fmla="val 13793"/>
            </a:avLst>
          </a:prstGeom>
          <a:solidFill>
            <a:srgbClr val="0B1220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419850" y="241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743700" y="23812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入场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753350" y="2247900"/>
            <a:ext cx="125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848600" y="241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06</a:t>
            </a:r>
            <a:endParaRPr sz="900" b="1">
              <a:solidFill>
                <a:srgbClr val="2563EB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172450" y="23812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寻车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182100" y="2247900"/>
            <a:ext cx="125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277350" y="241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07</a:t>
            </a:r>
            <a:endParaRPr sz="900" b="1">
              <a:solidFill>
                <a:srgbClr val="2563EB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601200" y="23812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支付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10610850" y="2247900"/>
            <a:ext cx="125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706100" y="241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08</a:t>
            </a:r>
            <a:endParaRPr sz="900" b="1">
              <a:solidFill>
                <a:srgbClr val="2563EB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029950" y="23812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后台</a:t>
            </a:r>
            <a:endParaRPr sz="1200" b="1">
              <a:solidFill>
                <a:srgbClr val="1F2937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1047750" y="363855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47750" y="3638550"/>
            <a:ext cx="2857500" cy="476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257300" y="38671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可运行</a:t>
            </a:r>
            <a:endParaRPr sz="1725" b="1">
              <a:solidFill>
                <a:srgbClr val="2563EB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257300" y="42862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前后端可启动，数据库含种子数据，接口文档可查看。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4667250" y="363855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67250" y="3638550"/>
            <a:ext cx="2857500" cy="47625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876800" y="38671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可演示</a:t>
            </a:r>
            <a:endParaRPr sz="1725" b="1">
              <a:solidFill>
                <a:srgbClr val="16A34A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876800" y="42862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一条车主旅程能串联地图、预约、订单、寻车和支付。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8286750" y="363855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286750" y="3638550"/>
            <a:ext cx="285750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496300" y="38671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可维护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496300" y="42862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前后端分层清晰，路由和数据模型与业务流程对应。</a:t>
            </a:r>
            <a:endParaRPr sz="1275" b="0">
              <a:solidFill>
                <a:srgbClr val="1F2937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428750" y="54102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后续可继续接入真实摄像头、支付渠道和更细粒度的城市停车分析能力。</a:t>
            </a:r>
            <a:endParaRPr sz="1500" b="1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2696</Words>
  <Application>WPS 演示</Application>
  <PresentationFormat>Converted Presentation</PresentationFormat>
  <Paragraphs>452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拾忆</cp:lastModifiedBy>
  <cp:revision>1</cp:revision>
  <dcterms:created xsi:type="dcterms:W3CDTF">2026-07-09T11:19:50Z</dcterms:created>
  <dcterms:modified xsi:type="dcterms:W3CDTF">2026-07-09T11:19:50Z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3040A74D909A42B88EA13AA7AAD7517F_12</vt:lpwstr>
  </property>
  <property fmtid="{D5CDD505-2E9C-101B-9397-08002B2CF9AE}" pid="3" name="KSOProductBuildVer">
    <vt:lpwstr>2052-12.1.0.26375</vt:lpwstr>
  </property>
</Properties>
</file>